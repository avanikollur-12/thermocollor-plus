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4" d="100"/>
          <a:sy n="74" d="100"/>
        </p:scale>
        <p:origin x="352"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8902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Text 0"/>
          <p:cNvSpPr txBox="1"/>
          <p:nvPr/>
        </p:nvSpPr>
        <p:spPr>
          <a:xfrm>
            <a:off x="665530" y="1005840"/>
            <a:ext cx="7772400" cy="100584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ThermoCollar+</a:t>
            </a:r>
            <a:endParaRPr lang="en-US" sz="6600" dirty="0"/>
          </a:p>
        </p:txBody>
      </p:sp>
      <p:sp>
        <p:nvSpPr>
          <p:cNvPr id="3" name="Text 1"/>
          <p:cNvSpPr txBox="1"/>
          <p:nvPr/>
        </p:nvSpPr>
        <p:spPr>
          <a:xfrm>
            <a:off x="665530" y="1965960"/>
            <a:ext cx="7589520" cy="548640"/>
          </a:xfrm>
          <a:prstGeom prst="rect">
            <a:avLst/>
          </a:prstGeom>
          <a:noFill/>
          <a:ln/>
        </p:spPr>
        <p:txBody>
          <a:bodyPr wrap="square" lIns="0" tIns="0" rIns="0" bIns="0" rtlCol="0" anchor="ctr"/>
          <a:lstStyle/>
          <a:p>
            <a:pPr marL="0" indent="0">
              <a:buNone/>
            </a:pPr>
            <a:endParaRPr lang="en-US" sz="2800" i="1" dirty="0">
              <a:solidFill>
                <a:srgbClr val="D8F3DC"/>
              </a:solidFill>
              <a:latin typeface="Calibri" pitchFamily="34" charset="0"/>
              <a:ea typeface="Calibri" pitchFamily="34" charset="-122"/>
              <a:cs typeface="Calibri" pitchFamily="34" charset="-120"/>
            </a:endParaRPr>
          </a:p>
          <a:p>
            <a:pPr marL="0" indent="0">
              <a:buNone/>
            </a:pPr>
            <a:r>
              <a:rPr lang="en-US" sz="2800" i="1" dirty="0">
                <a:solidFill>
                  <a:srgbClr val="D8F3DC"/>
                </a:solidFill>
                <a:latin typeface="Calibri" pitchFamily="34" charset="0"/>
                <a:ea typeface="Calibri" pitchFamily="34" charset="-122"/>
                <a:cs typeface="Calibri" pitchFamily="34" charset="-120"/>
              </a:rPr>
              <a:t>Smart Livestock Monitoring for Early Heat-Stress Detection</a:t>
            </a:r>
            <a:endParaRPr lang="en-US" sz="2800" dirty="0"/>
          </a:p>
        </p:txBody>
      </p:sp>
      <p:sp>
        <p:nvSpPr>
          <p:cNvPr id="4" name="Text 2"/>
          <p:cNvSpPr txBox="1"/>
          <p:nvPr/>
        </p:nvSpPr>
        <p:spPr>
          <a:xfrm>
            <a:off x="665530" y="2697480"/>
            <a:ext cx="7315200" cy="365760"/>
          </a:xfrm>
          <a:prstGeom prst="rect">
            <a:avLst/>
          </a:prstGeom>
          <a:noFill/>
          <a:ln/>
        </p:spPr>
        <p:txBody>
          <a:bodyPr wrap="square" lIns="0" tIns="0" rIns="0" bIns="0" rtlCol="0" anchor="ctr"/>
          <a:lstStyle/>
          <a:p>
            <a:pPr marL="0" indent="0">
              <a:buNone/>
            </a:pPr>
            <a:endParaRPr lang="en-US" sz="2000" b="1" dirty="0">
              <a:solidFill>
                <a:srgbClr val="95D5B2"/>
              </a:solidFill>
              <a:latin typeface="Calibri" pitchFamily="34" charset="0"/>
              <a:ea typeface="Calibri" pitchFamily="34" charset="-122"/>
              <a:cs typeface="Calibri" pitchFamily="34" charset="-120"/>
            </a:endParaRPr>
          </a:p>
          <a:p>
            <a:pPr marL="0" indent="0">
              <a:buNone/>
            </a:pPr>
            <a:r>
              <a:rPr lang="en-US" sz="2000" b="1" dirty="0">
                <a:solidFill>
                  <a:srgbClr val="95D5B2"/>
                </a:solidFill>
                <a:latin typeface="Calibri" pitchFamily="34" charset="0"/>
                <a:ea typeface="Calibri" pitchFamily="34" charset="-122"/>
                <a:cs typeface="Calibri" pitchFamily="34" charset="-120"/>
              </a:rPr>
              <a:t>NIRMAAN 2026 — AgriTech Track</a:t>
            </a:r>
            <a:endParaRPr lang="en-US" sz="2000" dirty="0"/>
          </a:p>
        </p:txBody>
      </p:sp>
      <p:sp>
        <p:nvSpPr>
          <p:cNvPr id="5" name="Shape 3"/>
          <p:cNvSpPr/>
          <p:nvPr/>
        </p:nvSpPr>
        <p:spPr>
          <a:xfrm>
            <a:off x="665530" y="3291840"/>
            <a:ext cx="6035040" cy="1965960"/>
          </a:xfrm>
          <a:prstGeom prst="roundRect">
            <a:avLst>
              <a:gd name="adj" fmla="val 4651"/>
            </a:avLst>
          </a:prstGeom>
          <a:solidFill>
            <a:srgbClr val="2D6A4F"/>
          </a:solidFill>
          <a:ln w="12700">
            <a:solidFill>
              <a:srgbClr val="2D6A4F"/>
            </a:solidFill>
            <a:prstDash val="solid"/>
          </a:ln>
        </p:spPr>
      </p:sp>
      <p:sp>
        <p:nvSpPr>
          <p:cNvPr id="6" name="Text 4"/>
          <p:cNvSpPr txBox="1"/>
          <p:nvPr/>
        </p:nvSpPr>
        <p:spPr>
          <a:xfrm>
            <a:off x="894130" y="3429000"/>
            <a:ext cx="5577840" cy="3657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Team Triple Espresso</a:t>
            </a:r>
            <a:endParaRPr lang="en-US" sz="2400" dirty="0"/>
          </a:p>
        </p:txBody>
      </p:sp>
      <p:sp>
        <p:nvSpPr>
          <p:cNvPr id="7" name="Text 5"/>
          <p:cNvSpPr txBox="1"/>
          <p:nvPr/>
        </p:nvSpPr>
        <p:spPr>
          <a:xfrm>
            <a:off x="894130" y="3840480"/>
            <a:ext cx="5577840" cy="1005840"/>
          </a:xfrm>
          <a:prstGeom prst="rect">
            <a:avLst/>
          </a:prstGeom>
          <a:noFill/>
          <a:ln/>
        </p:spPr>
        <p:txBody>
          <a:bodyPr wrap="square" lIns="0" tIns="0" rIns="0" bIns="0" rtlCol="0" anchor="ctr"/>
          <a:lstStyle/>
          <a:p>
            <a:pPr marL="0" indent="0">
              <a:spcAft>
                <a:spcPts val="400"/>
              </a:spcAft>
              <a:buNone/>
            </a:pPr>
            <a:r>
              <a:rPr lang="en-US" b="1" dirty="0">
                <a:solidFill>
                  <a:srgbClr val="D8F3DC"/>
                </a:solidFill>
                <a:latin typeface="Calibri" pitchFamily="34" charset="0"/>
                <a:ea typeface="Calibri" pitchFamily="34" charset="-122"/>
                <a:cs typeface="Calibri" pitchFamily="34" charset="-120"/>
              </a:rPr>
              <a:t>Avani Kollur — Team Leader</a:t>
            </a:r>
            <a:endParaRPr lang="en-US" b="1" dirty="0"/>
          </a:p>
          <a:p>
            <a:pPr marL="0" indent="0">
              <a:spcAft>
                <a:spcPts val="400"/>
              </a:spcAft>
              <a:buNone/>
            </a:pPr>
            <a:r>
              <a:rPr lang="en-US" b="1" dirty="0">
                <a:solidFill>
                  <a:srgbClr val="D8F3DC"/>
                </a:solidFill>
                <a:latin typeface="Calibri" pitchFamily="34" charset="0"/>
                <a:ea typeface="Calibri" pitchFamily="34" charset="-122"/>
                <a:cs typeface="Calibri" pitchFamily="34" charset="-120"/>
              </a:rPr>
              <a:t>Manya M Poojari — Team Member</a:t>
            </a:r>
            <a:endParaRPr lang="en-US" b="1" dirty="0"/>
          </a:p>
          <a:p>
            <a:pPr marL="0" indent="0">
              <a:buNone/>
            </a:pPr>
            <a:r>
              <a:rPr lang="en-US" b="1" dirty="0">
                <a:solidFill>
                  <a:srgbClr val="D8F3DC"/>
                </a:solidFill>
                <a:latin typeface="Calibri" pitchFamily="34" charset="0"/>
                <a:ea typeface="Calibri" pitchFamily="34" charset="-122"/>
                <a:cs typeface="Calibri" pitchFamily="34" charset="-120"/>
              </a:rPr>
              <a:t>Ananya S K — Team Member</a:t>
            </a:r>
            <a:endParaRPr lang="en-US" b="1" dirty="0"/>
          </a:p>
        </p:txBody>
      </p:sp>
      <p:sp>
        <p:nvSpPr>
          <p:cNvPr id="8" name="Text 6"/>
          <p:cNvSpPr txBox="1"/>
          <p:nvPr/>
        </p:nvSpPr>
        <p:spPr>
          <a:xfrm>
            <a:off x="894130" y="4846320"/>
            <a:ext cx="5577840" cy="320040"/>
          </a:xfrm>
          <a:prstGeom prst="rect">
            <a:avLst/>
          </a:prstGeom>
          <a:noFill/>
          <a:ln/>
        </p:spPr>
        <p:txBody>
          <a:bodyPr wrap="square" lIns="0" tIns="0" rIns="0" bIns="0" rtlCol="0" anchor="ctr"/>
          <a:lstStyle/>
          <a:p>
            <a:pPr marL="0" indent="0">
              <a:buNone/>
            </a:pPr>
            <a:r>
              <a:rPr lang="en-US" sz="1600" i="1" dirty="0">
                <a:solidFill>
                  <a:schemeClr val="accent6">
                    <a:lumMod val="20000"/>
                    <a:lumOff val="80000"/>
                  </a:schemeClr>
                </a:solidFill>
                <a:latin typeface="Calibri" pitchFamily="34" charset="0"/>
                <a:ea typeface="Calibri" pitchFamily="34" charset="-122"/>
                <a:cs typeface="Calibri" pitchFamily="34" charset="-120"/>
              </a:rPr>
              <a:t>Nitte Meenakshi Institute of Technology (NMIT), Bengaluru</a:t>
            </a:r>
            <a:endParaRPr lang="en-US" sz="1600" dirty="0">
              <a:solidFill>
                <a:schemeClr val="accent6">
                  <a:lumMod val="20000"/>
                  <a:lumOff val="80000"/>
                </a:schemeClr>
              </a:solidFill>
            </a:endParaRPr>
          </a:p>
        </p:txBody>
      </p:sp>
      <p:sp>
        <p:nvSpPr>
          <p:cNvPr id="15" name="Text 13"/>
          <p:cNvSpPr txBox="1"/>
          <p:nvPr/>
        </p:nvSpPr>
        <p:spPr>
          <a:xfrm>
            <a:off x="8087251" y="5826906"/>
            <a:ext cx="2895918" cy="737646"/>
          </a:xfrm>
          <a:prstGeom prst="rect">
            <a:avLst/>
          </a:prstGeom>
          <a:noFill/>
          <a:ln/>
        </p:spPr>
        <p:txBody>
          <a:bodyPr wrap="square" lIns="0" tIns="0" rIns="0" bIns="0" rtlCol="0" anchor="ctr"/>
          <a:lstStyle/>
          <a:p>
            <a:pPr marL="0" indent="0" algn="ctr">
              <a:buNone/>
            </a:pPr>
            <a:r>
              <a:rPr lang="en-US" sz="1600" dirty="0">
                <a:solidFill>
                  <a:srgbClr val="D8F3DC"/>
                </a:solidFill>
                <a:latin typeface="Calibri" pitchFamily="34" charset="0"/>
                <a:ea typeface="Calibri" pitchFamily="34" charset="-122"/>
                <a:cs typeface="Calibri" pitchFamily="34" charset="-120"/>
              </a:rPr>
              <a:t>Smart Collar Prototype</a:t>
            </a:r>
            <a:endParaRPr lang="en-US" sz="1600" dirty="0"/>
          </a:p>
        </p:txBody>
      </p:sp>
      <p:sp>
        <p:nvSpPr>
          <p:cNvPr id="16" name="Text 14"/>
          <p:cNvSpPr txBox="1"/>
          <p:nvPr/>
        </p:nvSpPr>
        <p:spPr>
          <a:xfrm>
            <a:off x="391210" y="6144768"/>
            <a:ext cx="7315200" cy="274320"/>
          </a:xfrm>
          <a:prstGeom prst="rect">
            <a:avLst/>
          </a:prstGeom>
          <a:noFill/>
          <a:ln/>
        </p:spPr>
        <p:txBody>
          <a:bodyPr wrap="square" lIns="0" tIns="0" rIns="0" bIns="0" rtlCol="0" anchor="ctr"/>
          <a:lstStyle/>
          <a:p>
            <a:pPr marL="0" indent="0">
              <a:buNone/>
            </a:pPr>
            <a:r>
              <a:rPr lang="en-US" sz="1100" dirty="0">
                <a:solidFill>
                  <a:srgbClr val="BFD8CE"/>
                </a:solidFill>
                <a:latin typeface="Calibri" pitchFamily="34" charset="0"/>
                <a:ea typeface="Calibri" pitchFamily="34" charset="-122"/>
                <a:cs typeface="Calibri" pitchFamily="34" charset="-120"/>
              </a:rPr>
              <a:t>Team Triple Espresso  •  NMIT Bengaluru  •  NIRMAAN 2026</a:t>
            </a:r>
            <a:endParaRPr lang="en-US" sz="1100" dirty="0"/>
          </a:p>
        </p:txBody>
      </p:sp>
      <p:sp>
        <p:nvSpPr>
          <p:cNvPr id="17" name="Text 15"/>
          <p:cNvSpPr txBox="1"/>
          <p:nvPr/>
        </p:nvSpPr>
        <p:spPr>
          <a:xfrm>
            <a:off x="11364010" y="6144768"/>
            <a:ext cx="365760" cy="274320"/>
          </a:xfrm>
          <a:prstGeom prst="rect">
            <a:avLst/>
          </a:prstGeom>
          <a:noFill/>
          <a:ln/>
        </p:spPr>
        <p:txBody>
          <a:bodyPr wrap="square" lIns="0" tIns="0" rIns="0" bIns="0" rtlCol="0" anchor="ctr"/>
          <a:lstStyle/>
          <a:p>
            <a:pPr marL="0" indent="0" algn="r">
              <a:buNone/>
            </a:pPr>
            <a:r>
              <a:rPr lang="en-US" sz="1100" dirty="0">
                <a:solidFill>
                  <a:srgbClr val="BFD8CE"/>
                </a:solidFill>
                <a:latin typeface="Calibri" pitchFamily="34" charset="0"/>
                <a:ea typeface="Calibri" pitchFamily="34" charset="-122"/>
                <a:cs typeface="Calibri" pitchFamily="34" charset="-120"/>
              </a:rPr>
              <a:t>1</a:t>
            </a:r>
            <a:endParaRPr lang="en-US" sz="1100" dirty="0"/>
          </a:p>
        </p:txBody>
      </p:sp>
      <p:pic>
        <p:nvPicPr>
          <p:cNvPr id="19" name="Picture 18">
            <a:extLst>
              <a:ext uri="{FF2B5EF4-FFF2-40B4-BE49-F238E27FC236}">
                <a16:creationId xmlns:a16="http://schemas.microsoft.com/office/drawing/2014/main" id="{1B7AEFC8-E6D0-4B19-927A-2939D4C5B828}"/>
              </a:ext>
            </a:extLst>
          </p:cNvPr>
          <p:cNvPicPr>
            <a:picLocks noChangeAspect="1"/>
          </p:cNvPicPr>
          <p:nvPr/>
        </p:nvPicPr>
        <p:blipFill>
          <a:blip r:embed="rId3"/>
          <a:stretch>
            <a:fillRect/>
          </a:stretch>
        </p:blipFill>
        <p:spPr>
          <a:xfrm>
            <a:off x="7023681" y="2355249"/>
            <a:ext cx="5126780" cy="3496911"/>
          </a:xfrm>
          <a:prstGeom prst="ellipse">
            <a:avLst/>
          </a:prstGeom>
        </p:spPr>
      </p:pic>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The Problem &amp; Our Solution</a:t>
            </a:r>
            <a:endParaRPr lang="en-US" sz="32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marL="0" indent="0">
              <a:buNone/>
            </a:pPr>
            <a:r>
              <a:rPr lang="en-US" sz="1200" i="1" dirty="0">
                <a:solidFill>
                  <a:srgbClr val="5C6B5E"/>
                </a:solidFill>
                <a:latin typeface="Calibri" pitchFamily="34" charset="0"/>
                <a:ea typeface="Calibri" pitchFamily="34" charset="-122"/>
                <a:cs typeface="Calibri" pitchFamily="34" charset="-120"/>
              </a:rPr>
              <a:t>Why early heat-stress detection matters, and how ThermoCollar+ responds</a:t>
            </a:r>
            <a:endParaRPr lang="en-US" sz="1200" dirty="0"/>
          </a:p>
        </p:txBody>
      </p:sp>
      <p:sp>
        <p:nvSpPr>
          <p:cNvPr id="4" name="Shape 2"/>
          <p:cNvSpPr/>
          <p:nvPr/>
        </p:nvSpPr>
        <p:spPr>
          <a:xfrm>
            <a:off x="548640" y="1463040"/>
            <a:ext cx="5394960" cy="4709160"/>
          </a:xfrm>
          <a:prstGeom prst="roundRect">
            <a:avLst>
              <a:gd name="adj" fmla="val 1553"/>
            </a:avLst>
          </a:prstGeom>
          <a:solidFill>
            <a:srgbClr val="FFFFFF"/>
          </a:solidFill>
          <a:ln w="12700">
            <a:solidFill>
              <a:srgbClr val="D8D0BC"/>
            </a:solidFill>
            <a:prstDash val="solid"/>
          </a:ln>
        </p:spPr>
      </p:sp>
      <p:sp>
        <p:nvSpPr>
          <p:cNvPr id="5" name="Text 3"/>
          <p:cNvSpPr txBox="1"/>
          <p:nvPr/>
        </p:nvSpPr>
        <p:spPr>
          <a:xfrm>
            <a:off x="822960" y="1645920"/>
            <a:ext cx="4846320" cy="365760"/>
          </a:xfrm>
          <a:prstGeom prst="rect">
            <a:avLst/>
          </a:prstGeom>
          <a:noFill/>
          <a:ln/>
        </p:spPr>
        <p:txBody>
          <a:bodyPr wrap="square" lIns="0" tIns="0" rIns="0" bIns="0" rtlCol="0" anchor="ctr"/>
          <a:lstStyle/>
          <a:p>
            <a:pPr marL="0" indent="0">
              <a:buNone/>
            </a:pPr>
            <a:r>
              <a:rPr lang="en-US" b="1" dirty="0">
                <a:solidFill>
                  <a:srgbClr val="C0392B"/>
                </a:solidFill>
                <a:latin typeface="Cambria" pitchFamily="34" charset="0"/>
                <a:ea typeface="Cambria" pitchFamily="34" charset="-122"/>
                <a:cs typeface="Cambria" pitchFamily="34" charset="-120"/>
              </a:rPr>
              <a:t>The Problem</a:t>
            </a:r>
            <a:endParaRPr lang="en-US" dirty="0"/>
          </a:p>
        </p:txBody>
      </p:sp>
      <p:sp>
        <p:nvSpPr>
          <p:cNvPr id="6" name="Text 4"/>
          <p:cNvSpPr txBox="1"/>
          <p:nvPr/>
        </p:nvSpPr>
        <p:spPr>
          <a:xfrm>
            <a:off x="822960" y="2103120"/>
            <a:ext cx="4846320" cy="3931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Farmers often notice heat stress in cattle only after visible symptoms appear, by which time productivity and health are already affected.</a:t>
            </a:r>
            <a:endParaRPr lang="en-US" sz="1400" dirty="0"/>
          </a:p>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Heat stress silently reduces milk yield, fertility and overall herd health, especially during summer months.</a:t>
            </a:r>
            <a:endParaRPr lang="en-US" sz="1400" dirty="0"/>
          </a:p>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Small and marginal farmers rarely have access to affordable, real-time physiological monitoring tools.</a:t>
            </a:r>
            <a:endParaRPr lang="en-US" sz="1400" dirty="0"/>
          </a:p>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Existing livestock trackers mostly focus on GPS location rather than actual heat-risk physiology of the animal.</a:t>
            </a:r>
            <a:endParaRPr lang="en-US" sz="1400" dirty="0"/>
          </a:p>
        </p:txBody>
      </p:sp>
      <p:sp>
        <p:nvSpPr>
          <p:cNvPr id="7" name="Shape 5"/>
          <p:cNvSpPr/>
          <p:nvPr/>
        </p:nvSpPr>
        <p:spPr>
          <a:xfrm>
            <a:off x="6263640" y="1463040"/>
            <a:ext cx="5394960" cy="4709160"/>
          </a:xfrm>
          <a:prstGeom prst="roundRect">
            <a:avLst>
              <a:gd name="adj" fmla="val 1553"/>
            </a:avLst>
          </a:prstGeom>
          <a:solidFill>
            <a:srgbClr val="FFFFFF"/>
          </a:solidFill>
          <a:ln w="12700">
            <a:solidFill>
              <a:srgbClr val="D8D0BC"/>
            </a:solidFill>
            <a:prstDash val="solid"/>
          </a:ln>
        </p:spPr>
      </p:sp>
      <p:sp>
        <p:nvSpPr>
          <p:cNvPr id="8" name="Text 6"/>
          <p:cNvSpPr txBox="1"/>
          <p:nvPr/>
        </p:nvSpPr>
        <p:spPr>
          <a:xfrm>
            <a:off x="6537960" y="1645920"/>
            <a:ext cx="4846320" cy="365760"/>
          </a:xfrm>
          <a:prstGeom prst="rect">
            <a:avLst/>
          </a:prstGeom>
          <a:noFill/>
          <a:ln/>
        </p:spPr>
        <p:txBody>
          <a:bodyPr wrap="square" lIns="0" tIns="0" rIns="0" bIns="0"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Our Solution — System Flow</a:t>
            </a:r>
            <a:endParaRPr lang="en-US" sz="1600" dirty="0"/>
          </a:p>
        </p:txBody>
      </p:sp>
      <p:sp>
        <p:nvSpPr>
          <p:cNvPr id="9" name="Shape 7"/>
          <p:cNvSpPr/>
          <p:nvPr/>
        </p:nvSpPr>
        <p:spPr>
          <a:xfrm>
            <a:off x="6537960" y="2148840"/>
            <a:ext cx="4846320" cy="457200"/>
          </a:xfrm>
          <a:prstGeom prst="roundRect">
            <a:avLst>
              <a:gd name="adj" fmla="val 14000"/>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10" name="Text 8"/>
          <p:cNvSpPr txBox="1"/>
          <p:nvPr/>
        </p:nvSpPr>
        <p:spPr>
          <a:xfrm>
            <a:off x="6583680" y="2148840"/>
            <a:ext cx="47548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DHT22 Sensor Reading</a:t>
            </a:r>
            <a:endParaRPr lang="en-US" sz="1050" dirty="0"/>
          </a:p>
        </p:txBody>
      </p:sp>
      <p:sp>
        <p:nvSpPr>
          <p:cNvPr id="11" name="Text 9"/>
          <p:cNvSpPr txBox="1"/>
          <p:nvPr/>
        </p:nvSpPr>
        <p:spPr>
          <a:xfrm>
            <a:off x="8778240" y="2606040"/>
            <a:ext cx="365760" cy="201168"/>
          </a:xfrm>
          <a:prstGeom prst="rect">
            <a:avLst/>
          </a:prstGeom>
          <a:noFill/>
          <a:ln/>
        </p:spPr>
        <p:txBody>
          <a:bodyPr wrap="square" lIns="0" tIns="0" rIns="0" bIns="0" rtlCol="0" anchor="ctr"/>
          <a:lstStyle/>
          <a:p>
            <a:pPr marL="0" indent="0" algn="ctr">
              <a:buNone/>
            </a:pPr>
            <a:r>
              <a:rPr lang="en-US" sz="1400" b="1" dirty="0">
                <a:solidFill>
                  <a:srgbClr val="1B4332"/>
                </a:solidFill>
              </a:rPr>
              <a:t>↓</a:t>
            </a:r>
            <a:endParaRPr lang="en-US" sz="1400" dirty="0"/>
          </a:p>
        </p:txBody>
      </p:sp>
      <p:sp>
        <p:nvSpPr>
          <p:cNvPr id="12" name="Shape 10"/>
          <p:cNvSpPr/>
          <p:nvPr/>
        </p:nvSpPr>
        <p:spPr>
          <a:xfrm>
            <a:off x="6537960" y="2862072"/>
            <a:ext cx="4846320" cy="457200"/>
          </a:xfrm>
          <a:prstGeom prst="roundRect">
            <a:avLst>
              <a:gd name="adj" fmla="val 14000"/>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13" name="Text 11"/>
          <p:cNvSpPr txBox="1"/>
          <p:nvPr/>
        </p:nvSpPr>
        <p:spPr>
          <a:xfrm>
            <a:off x="6583680" y="2862072"/>
            <a:ext cx="47548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ESP32 Processing</a:t>
            </a:r>
            <a:endParaRPr lang="en-US" sz="1050" dirty="0"/>
          </a:p>
        </p:txBody>
      </p:sp>
      <p:sp>
        <p:nvSpPr>
          <p:cNvPr id="14" name="Text 12"/>
          <p:cNvSpPr txBox="1"/>
          <p:nvPr/>
        </p:nvSpPr>
        <p:spPr>
          <a:xfrm>
            <a:off x="8778240" y="3319272"/>
            <a:ext cx="365760" cy="201168"/>
          </a:xfrm>
          <a:prstGeom prst="rect">
            <a:avLst/>
          </a:prstGeom>
          <a:noFill/>
          <a:ln/>
        </p:spPr>
        <p:txBody>
          <a:bodyPr wrap="square" lIns="0" tIns="0" rIns="0" bIns="0" rtlCol="0" anchor="ctr"/>
          <a:lstStyle/>
          <a:p>
            <a:pPr marL="0" indent="0" algn="ctr">
              <a:buNone/>
            </a:pPr>
            <a:r>
              <a:rPr lang="en-US" sz="1400" b="1" dirty="0">
                <a:solidFill>
                  <a:srgbClr val="1B4332"/>
                </a:solidFill>
              </a:rPr>
              <a:t>↓</a:t>
            </a:r>
            <a:endParaRPr lang="en-US" sz="1400" dirty="0"/>
          </a:p>
        </p:txBody>
      </p:sp>
      <p:sp>
        <p:nvSpPr>
          <p:cNvPr id="15" name="Shape 13"/>
          <p:cNvSpPr/>
          <p:nvPr/>
        </p:nvSpPr>
        <p:spPr>
          <a:xfrm>
            <a:off x="6537960" y="3575304"/>
            <a:ext cx="4846320" cy="457200"/>
          </a:xfrm>
          <a:prstGeom prst="roundRect">
            <a:avLst>
              <a:gd name="adj" fmla="val 14000"/>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16" name="Text 14"/>
          <p:cNvSpPr txBox="1"/>
          <p:nvPr/>
        </p:nvSpPr>
        <p:spPr>
          <a:xfrm>
            <a:off x="6583680" y="3575304"/>
            <a:ext cx="47548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THI Calculation</a:t>
            </a:r>
            <a:endParaRPr lang="en-US" sz="1050" dirty="0"/>
          </a:p>
        </p:txBody>
      </p:sp>
      <p:sp>
        <p:nvSpPr>
          <p:cNvPr id="17" name="Text 15"/>
          <p:cNvSpPr txBox="1"/>
          <p:nvPr/>
        </p:nvSpPr>
        <p:spPr>
          <a:xfrm>
            <a:off x="8778240" y="4032504"/>
            <a:ext cx="365760" cy="201168"/>
          </a:xfrm>
          <a:prstGeom prst="rect">
            <a:avLst/>
          </a:prstGeom>
          <a:noFill/>
          <a:ln/>
        </p:spPr>
        <p:txBody>
          <a:bodyPr wrap="square" lIns="0" tIns="0" rIns="0" bIns="0" rtlCol="0" anchor="ctr"/>
          <a:lstStyle/>
          <a:p>
            <a:pPr marL="0" indent="0" algn="ctr">
              <a:buNone/>
            </a:pPr>
            <a:r>
              <a:rPr lang="en-US" sz="1400" b="1" dirty="0">
                <a:solidFill>
                  <a:srgbClr val="1B4332"/>
                </a:solidFill>
              </a:rPr>
              <a:t>↓</a:t>
            </a:r>
            <a:endParaRPr lang="en-US" sz="1400" dirty="0"/>
          </a:p>
        </p:txBody>
      </p:sp>
      <p:sp>
        <p:nvSpPr>
          <p:cNvPr id="18" name="Shape 16"/>
          <p:cNvSpPr/>
          <p:nvPr/>
        </p:nvSpPr>
        <p:spPr>
          <a:xfrm>
            <a:off x="6537960" y="4288536"/>
            <a:ext cx="4846320" cy="457200"/>
          </a:xfrm>
          <a:prstGeom prst="roundRect">
            <a:avLst>
              <a:gd name="adj" fmla="val 14000"/>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19" name="Text 17"/>
          <p:cNvSpPr txBox="1"/>
          <p:nvPr/>
        </p:nvSpPr>
        <p:spPr>
          <a:xfrm>
            <a:off x="6583680" y="4288536"/>
            <a:ext cx="47548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Risk Classification</a:t>
            </a:r>
            <a:endParaRPr lang="en-US" sz="1050" dirty="0"/>
          </a:p>
        </p:txBody>
      </p:sp>
      <p:sp>
        <p:nvSpPr>
          <p:cNvPr id="20" name="Text 18"/>
          <p:cNvSpPr txBox="1"/>
          <p:nvPr/>
        </p:nvSpPr>
        <p:spPr>
          <a:xfrm>
            <a:off x="8778240" y="4745736"/>
            <a:ext cx="365760" cy="201168"/>
          </a:xfrm>
          <a:prstGeom prst="rect">
            <a:avLst/>
          </a:prstGeom>
          <a:noFill/>
          <a:ln/>
        </p:spPr>
        <p:txBody>
          <a:bodyPr wrap="square" lIns="0" tIns="0" rIns="0" bIns="0" rtlCol="0" anchor="ctr"/>
          <a:lstStyle/>
          <a:p>
            <a:pPr marL="0" indent="0" algn="ctr">
              <a:buNone/>
            </a:pPr>
            <a:r>
              <a:rPr lang="en-US" sz="1400" b="1" dirty="0">
                <a:solidFill>
                  <a:srgbClr val="1B4332"/>
                </a:solidFill>
              </a:rPr>
              <a:t>↓</a:t>
            </a:r>
            <a:endParaRPr lang="en-US" sz="1400" dirty="0"/>
          </a:p>
        </p:txBody>
      </p:sp>
      <p:sp>
        <p:nvSpPr>
          <p:cNvPr id="21" name="Shape 19"/>
          <p:cNvSpPr/>
          <p:nvPr/>
        </p:nvSpPr>
        <p:spPr>
          <a:xfrm>
            <a:off x="6537960" y="5001768"/>
            <a:ext cx="4846320" cy="457200"/>
          </a:xfrm>
          <a:prstGeom prst="roundRect">
            <a:avLst>
              <a:gd name="adj" fmla="val 14000"/>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22" name="Text 20"/>
          <p:cNvSpPr txBox="1"/>
          <p:nvPr/>
        </p:nvSpPr>
        <p:spPr>
          <a:xfrm>
            <a:off x="6583680" y="5001768"/>
            <a:ext cx="47548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RGB LED + Buzzer Alert</a:t>
            </a:r>
            <a:endParaRPr lang="en-US" sz="1050" dirty="0"/>
          </a:p>
        </p:txBody>
      </p:sp>
      <p:sp>
        <p:nvSpPr>
          <p:cNvPr id="23" name="Text 21"/>
          <p:cNvSpPr txBox="1"/>
          <p:nvPr/>
        </p:nvSpPr>
        <p:spPr>
          <a:xfrm>
            <a:off x="8778240" y="5458968"/>
            <a:ext cx="365760" cy="201168"/>
          </a:xfrm>
          <a:prstGeom prst="rect">
            <a:avLst/>
          </a:prstGeom>
          <a:noFill/>
          <a:ln/>
        </p:spPr>
        <p:txBody>
          <a:bodyPr wrap="square" lIns="0" tIns="0" rIns="0" bIns="0" rtlCol="0" anchor="ctr"/>
          <a:lstStyle/>
          <a:p>
            <a:pPr marL="0" indent="0" algn="ctr">
              <a:buNone/>
            </a:pPr>
            <a:r>
              <a:rPr lang="en-US" sz="1400" b="1" dirty="0">
                <a:solidFill>
                  <a:srgbClr val="1B4332"/>
                </a:solidFill>
              </a:rPr>
              <a:t>↓</a:t>
            </a:r>
            <a:endParaRPr lang="en-US" sz="1400" dirty="0"/>
          </a:p>
        </p:txBody>
      </p:sp>
      <p:sp>
        <p:nvSpPr>
          <p:cNvPr id="24" name="Shape 22"/>
          <p:cNvSpPr/>
          <p:nvPr/>
        </p:nvSpPr>
        <p:spPr>
          <a:xfrm>
            <a:off x="6537960" y="5715000"/>
            <a:ext cx="4846320" cy="457200"/>
          </a:xfrm>
          <a:prstGeom prst="roundRect">
            <a:avLst>
              <a:gd name="adj" fmla="val 14000"/>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25" name="Text 23"/>
          <p:cNvSpPr txBox="1"/>
          <p:nvPr/>
        </p:nvSpPr>
        <p:spPr>
          <a:xfrm>
            <a:off x="6583680" y="5715000"/>
            <a:ext cx="47548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Streamlit Farmer Dashboard</a:t>
            </a:r>
            <a:endParaRPr lang="en-US" sz="1050" dirty="0"/>
          </a:p>
        </p:txBody>
      </p:sp>
      <p:sp>
        <p:nvSpPr>
          <p:cNvPr id="26" name="Text 24"/>
          <p:cNvSpPr txBox="1"/>
          <p:nvPr/>
        </p:nvSpPr>
        <p:spPr>
          <a:xfrm>
            <a:off x="6537960" y="6217920"/>
            <a:ext cx="4846320" cy="502920"/>
          </a:xfrm>
          <a:prstGeom prst="rect">
            <a:avLst/>
          </a:prstGeom>
          <a:noFill/>
          <a:ln/>
        </p:spPr>
        <p:txBody>
          <a:bodyPr wrap="square" lIns="0" tIns="0" rIns="0" bIns="0" rtlCol="0" anchor="ctr"/>
          <a:lstStyle/>
          <a:p>
            <a:pPr marL="0" indent="0">
              <a:buNone/>
            </a:pPr>
            <a:r>
              <a:rPr lang="en-US" sz="1100" i="1" dirty="0">
                <a:solidFill>
                  <a:srgbClr val="5C6B5E"/>
                </a:solidFill>
                <a:latin typeface="Calibri" pitchFamily="34" charset="0"/>
                <a:ea typeface="Calibri" pitchFamily="34" charset="-122"/>
                <a:cs typeface="Calibri" pitchFamily="34" charset="-120"/>
              </a:rPr>
              <a:t>Local alerts give the animal immediate protection; the dashboard gives farmers herd-level visibility and recommended action.</a:t>
            </a:r>
            <a:endParaRPr lang="en-US" sz="1100" dirty="0"/>
          </a:p>
        </p:txBody>
      </p:sp>
      <p:sp>
        <p:nvSpPr>
          <p:cNvPr id="27" name="Text 25"/>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C6B5E"/>
                </a:solidFill>
                <a:latin typeface="Calibri" pitchFamily="34" charset="0"/>
                <a:ea typeface="Calibri" pitchFamily="34" charset="-122"/>
                <a:cs typeface="Calibri" pitchFamily="34" charset="-120"/>
              </a:rPr>
              <a:t>Team Triple Espresso  •  NMIT Bengaluru  •  NIRMAAN 2026</a:t>
            </a:r>
            <a:endParaRPr lang="en-US" sz="900" dirty="0"/>
          </a:p>
        </p:txBody>
      </p:sp>
      <p:sp>
        <p:nvSpPr>
          <p:cNvPr id="28" name="Text 26"/>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5E"/>
                </a:solidFill>
                <a:latin typeface="Calibri" pitchFamily="34" charset="0"/>
                <a:ea typeface="Calibri" pitchFamily="34" charset="-122"/>
                <a:cs typeface="Calibri" pitchFamily="34" charset="-120"/>
              </a:rPr>
              <a:t>2</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Turning Sensor Data into Heat Risk</a:t>
            </a:r>
            <a:endParaRPr lang="en-US" sz="30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marL="0" indent="0">
              <a:buNone/>
            </a:pPr>
            <a:r>
              <a:rPr lang="en-US" sz="1300" i="1" dirty="0">
                <a:solidFill>
                  <a:srgbClr val="5C6B5E"/>
                </a:solidFill>
                <a:latin typeface="Calibri" pitchFamily="34" charset="0"/>
                <a:ea typeface="Calibri" pitchFamily="34" charset="-122"/>
                <a:cs typeface="Calibri" pitchFamily="34" charset="-120"/>
              </a:rPr>
              <a:t>Rule-based Temperature-Humidity Index (THI) classification, on low-cost hardware</a:t>
            </a:r>
            <a:endParaRPr lang="en-US" sz="1300" dirty="0"/>
          </a:p>
        </p:txBody>
      </p:sp>
      <p:sp>
        <p:nvSpPr>
          <p:cNvPr id="4" name="Shape 2"/>
          <p:cNvSpPr/>
          <p:nvPr/>
        </p:nvSpPr>
        <p:spPr>
          <a:xfrm>
            <a:off x="548640" y="1463040"/>
            <a:ext cx="5394960" cy="4709160"/>
          </a:xfrm>
          <a:prstGeom prst="roundRect">
            <a:avLst>
              <a:gd name="adj" fmla="val 1553"/>
            </a:avLst>
          </a:prstGeom>
          <a:solidFill>
            <a:srgbClr val="FFFFFF"/>
          </a:solidFill>
          <a:ln w="12700">
            <a:solidFill>
              <a:srgbClr val="D8D0BC"/>
            </a:solidFill>
            <a:prstDash val="solid"/>
          </a:ln>
        </p:spPr>
      </p:sp>
      <p:sp>
        <p:nvSpPr>
          <p:cNvPr id="5" name="Text 3"/>
          <p:cNvSpPr txBox="1"/>
          <p:nvPr/>
        </p:nvSpPr>
        <p:spPr>
          <a:xfrm>
            <a:off x="822960" y="1645920"/>
            <a:ext cx="4846320" cy="320040"/>
          </a:xfrm>
          <a:prstGeom prst="rect">
            <a:avLst/>
          </a:prstGeom>
          <a:noFill/>
          <a:ln/>
        </p:spPr>
        <p:txBody>
          <a:bodyPr wrap="square" lIns="0" tIns="0" rIns="0" bIns="0"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THI Formula</a:t>
            </a:r>
            <a:endParaRPr lang="en-US" sz="1500" dirty="0"/>
          </a:p>
        </p:txBody>
      </p:sp>
      <p:sp>
        <p:nvSpPr>
          <p:cNvPr id="6" name="Shape 4"/>
          <p:cNvSpPr/>
          <p:nvPr/>
        </p:nvSpPr>
        <p:spPr>
          <a:xfrm>
            <a:off x="822960" y="2011680"/>
            <a:ext cx="4846320" cy="1051560"/>
          </a:xfrm>
          <a:prstGeom prst="roundRect">
            <a:avLst>
              <a:gd name="adj" fmla="val 5217"/>
            </a:avLst>
          </a:prstGeom>
          <a:solidFill>
            <a:srgbClr val="F5F0E6"/>
          </a:solidFill>
          <a:ln w="12700">
            <a:solidFill>
              <a:srgbClr val="D8D0BC"/>
            </a:solidFill>
            <a:prstDash val="solid"/>
          </a:ln>
        </p:spPr>
      </p:sp>
      <p:sp>
        <p:nvSpPr>
          <p:cNvPr id="7" name="Text 5"/>
          <p:cNvSpPr txBox="1"/>
          <p:nvPr/>
        </p:nvSpPr>
        <p:spPr>
          <a:xfrm>
            <a:off x="960120" y="2121408"/>
            <a:ext cx="4572000" cy="502920"/>
          </a:xfrm>
          <a:prstGeom prst="rect">
            <a:avLst/>
          </a:prstGeom>
          <a:noFill/>
          <a:ln/>
        </p:spPr>
        <p:txBody>
          <a:bodyPr wrap="square" lIns="0" tIns="0" rIns="0" bIns="0" rtlCol="0" anchor="ctr"/>
          <a:lstStyle/>
          <a:p>
            <a:pPr marL="0" indent="0">
              <a:buNone/>
            </a:pPr>
            <a:r>
              <a:rPr lang="en-US" sz="1250" b="1" dirty="0">
                <a:solidFill>
                  <a:srgbClr val="20302A"/>
                </a:solidFill>
                <a:latin typeface="Courier New" pitchFamily="34" charset="0"/>
                <a:ea typeface="Courier New" pitchFamily="34" charset="-122"/>
                <a:cs typeface="Courier New" pitchFamily="34" charset="-120"/>
              </a:rPr>
              <a:t>THI = (1.8T + 32) − ((0.55 − 0.0055·RH) × (1.8T − 26.8))</a:t>
            </a:r>
            <a:endParaRPr lang="en-US" sz="1250" dirty="0"/>
          </a:p>
        </p:txBody>
      </p:sp>
      <p:sp>
        <p:nvSpPr>
          <p:cNvPr id="8" name="Text 6"/>
          <p:cNvSpPr txBox="1"/>
          <p:nvPr/>
        </p:nvSpPr>
        <p:spPr>
          <a:xfrm>
            <a:off x="960120" y="2651760"/>
            <a:ext cx="4572000" cy="320040"/>
          </a:xfrm>
          <a:prstGeom prst="rect">
            <a:avLst/>
          </a:prstGeom>
          <a:noFill/>
          <a:ln/>
        </p:spPr>
        <p:txBody>
          <a:bodyPr wrap="square" lIns="0" tIns="0" rIns="0" bIns="0" rtlCol="0" anchor="ctr"/>
          <a:lstStyle/>
          <a:p>
            <a:pPr marL="0" indent="0">
              <a:buNone/>
            </a:pPr>
            <a:r>
              <a:rPr lang="en-US" sz="1100" i="1" dirty="0">
                <a:solidFill>
                  <a:srgbClr val="5C6B5E"/>
                </a:solidFill>
                <a:latin typeface="Calibri" pitchFamily="34" charset="0"/>
                <a:ea typeface="Calibri" pitchFamily="34" charset="-122"/>
                <a:cs typeface="Calibri" pitchFamily="34" charset="-120"/>
              </a:rPr>
              <a:t>T = temperature (°C)     RH = relative humidity (%)</a:t>
            </a:r>
            <a:endParaRPr lang="en-US" sz="1100" dirty="0"/>
          </a:p>
        </p:txBody>
      </p:sp>
      <p:sp>
        <p:nvSpPr>
          <p:cNvPr id="9" name="Text 7"/>
          <p:cNvSpPr txBox="1"/>
          <p:nvPr/>
        </p:nvSpPr>
        <p:spPr>
          <a:xfrm>
            <a:off x="822960" y="3246120"/>
            <a:ext cx="4846320" cy="320040"/>
          </a:xfrm>
          <a:prstGeom prst="rect">
            <a:avLst/>
          </a:prstGeom>
          <a:noFill/>
          <a:ln/>
        </p:spPr>
        <p:txBody>
          <a:bodyPr wrap="square" lIns="0" tIns="0" rIns="0" bIns="0" rtlCol="0" anchor="ctr"/>
          <a:lstStyle/>
          <a:p>
            <a:pPr marL="0" indent="0">
              <a:buNone/>
            </a:pPr>
            <a:r>
              <a:rPr lang="en-US" sz="1400" b="1" dirty="0">
                <a:solidFill>
                  <a:srgbClr val="1B4332"/>
                </a:solidFill>
                <a:latin typeface="Cambria" pitchFamily="34" charset="0"/>
                <a:ea typeface="Cambria" pitchFamily="34" charset="-122"/>
                <a:cs typeface="Cambria" pitchFamily="34" charset="-120"/>
              </a:rPr>
              <a:t>Prototype Risk Thresholds</a:t>
            </a:r>
            <a:endParaRPr lang="en-US" sz="1400" dirty="0"/>
          </a:p>
        </p:txBody>
      </p:sp>
      <p:sp>
        <p:nvSpPr>
          <p:cNvPr id="10" name="Shape 8"/>
          <p:cNvSpPr/>
          <p:nvPr/>
        </p:nvSpPr>
        <p:spPr>
          <a:xfrm>
            <a:off x="822960" y="3657600"/>
            <a:ext cx="2331720" cy="502920"/>
          </a:xfrm>
          <a:prstGeom prst="roundRect">
            <a:avLst>
              <a:gd name="adj" fmla="val 12727"/>
            </a:avLst>
          </a:prstGeom>
          <a:solidFill>
            <a:srgbClr val="F5F0E6"/>
          </a:solidFill>
          <a:ln w="6350">
            <a:solidFill>
              <a:srgbClr val="F5F0E6"/>
            </a:solidFill>
            <a:prstDash val="solid"/>
          </a:ln>
          <a:effectLst>
            <a:outerShdw blurRad="50800" dist="25400" dir="5400000" algn="bl" rotWithShape="0">
              <a:srgbClr val="000000">
                <a:alpha val="18000"/>
              </a:srgbClr>
            </a:outerShdw>
          </a:effectLst>
        </p:spPr>
      </p:sp>
      <p:sp>
        <p:nvSpPr>
          <p:cNvPr id="11" name="Text 9"/>
          <p:cNvSpPr txBox="1"/>
          <p:nvPr/>
        </p:nvSpPr>
        <p:spPr>
          <a:xfrm>
            <a:off x="868680" y="3657600"/>
            <a:ext cx="2240280" cy="502920"/>
          </a:xfrm>
          <a:prstGeom prst="rect">
            <a:avLst/>
          </a:prstGeom>
          <a:noFill/>
          <a:ln/>
        </p:spPr>
        <p:txBody>
          <a:bodyPr wrap="square" lIns="0" tIns="0" rIns="0" bIns="0" rtlCol="0" anchor="ctr"/>
          <a:lstStyle/>
          <a:p>
            <a:pPr marL="0" indent="0" algn="ctr">
              <a:buNone/>
            </a:pPr>
            <a:r>
              <a:rPr lang="en-US" sz="1050" b="1" dirty="0">
                <a:solidFill>
                  <a:srgbClr val="20302A"/>
                </a:solidFill>
                <a:latin typeface="Calibri" pitchFamily="34" charset="0"/>
                <a:ea typeface="Calibri" pitchFamily="34" charset="-122"/>
                <a:cs typeface="Calibri" pitchFamily="34" charset="-120"/>
              </a:rPr>
              <a:t>THI &lt; 68</a:t>
            </a:r>
            <a:endParaRPr lang="en-US" sz="1050" dirty="0"/>
          </a:p>
        </p:txBody>
      </p:sp>
      <p:sp>
        <p:nvSpPr>
          <p:cNvPr id="12" name="Shape 10"/>
          <p:cNvSpPr/>
          <p:nvPr/>
        </p:nvSpPr>
        <p:spPr>
          <a:xfrm>
            <a:off x="3291840" y="3657600"/>
            <a:ext cx="2377440" cy="502920"/>
          </a:xfrm>
          <a:prstGeom prst="roundRect">
            <a:avLst>
              <a:gd name="adj" fmla="val 12727"/>
            </a:avLst>
          </a:prstGeom>
          <a:solidFill>
            <a:srgbClr val="40916C"/>
          </a:solidFill>
          <a:ln w="6350">
            <a:solidFill>
              <a:srgbClr val="40916C"/>
            </a:solidFill>
            <a:prstDash val="solid"/>
          </a:ln>
          <a:effectLst>
            <a:outerShdw blurRad="50800" dist="25400" dir="5400000" algn="bl" rotWithShape="0">
              <a:srgbClr val="000000">
                <a:alpha val="18000"/>
              </a:srgbClr>
            </a:outerShdw>
          </a:effectLst>
        </p:spPr>
      </p:sp>
      <p:sp>
        <p:nvSpPr>
          <p:cNvPr id="13" name="Text 11"/>
          <p:cNvSpPr txBox="1"/>
          <p:nvPr/>
        </p:nvSpPr>
        <p:spPr>
          <a:xfrm>
            <a:off x="3337560" y="3657600"/>
            <a:ext cx="228600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SAFE</a:t>
            </a:r>
            <a:endParaRPr lang="en-US" sz="1050" dirty="0"/>
          </a:p>
        </p:txBody>
      </p:sp>
      <p:sp>
        <p:nvSpPr>
          <p:cNvPr id="14" name="Shape 12"/>
          <p:cNvSpPr/>
          <p:nvPr/>
        </p:nvSpPr>
        <p:spPr>
          <a:xfrm>
            <a:off x="822960" y="4279392"/>
            <a:ext cx="2331720" cy="502920"/>
          </a:xfrm>
          <a:prstGeom prst="roundRect">
            <a:avLst>
              <a:gd name="adj" fmla="val 12727"/>
            </a:avLst>
          </a:prstGeom>
          <a:solidFill>
            <a:srgbClr val="F5F0E6"/>
          </a:solidFill>
          <a:ln w="6350">
            <a:solidFill>
              <a:srgbClr val="F5F0E6"/>
            </a:solidFill>
            <a:prstDash val="solid"/>
          </a:ln>
          <a:effectLst>
            <a:outerShdw blurRad="50800" dist="25400" dir="5400000" algn="bl" rotWithShape="0">
              <a:srgbClr val="000000">
                <a:alpha val="18000"/>
              </a:srgbClr>
            </a:outerShdw>
          </a:effectLst>
        </p:spPr>
      </p:sp>
      <p:sp>
        <p:nvSpPr>
          <p:cNvPr id="15" name="Text 13"/>
          <p:cNvSpPr txBox="1"/>
          <p:nvPr/>
        </p:nvSpPr>
        <p:spPr>
          <a:xfrm>
            <a:off x="868680" y="4279392"/>
            <a:ext cx="2240280" cy="502920"/>
          </a:xfrm>
          <a:prstGeom prst="rect">
            <a:avLst/>
          </a:prstGeom>
          <a:noFill/>
          <a:ln/>
        </p:spPr>
        <p:txBody>
          <a:bodyPr wrap="square" lIns="0" tIns="0" rIns="0" bIns="0" rtlCol="0" anchor="ctr"/>
          <a:lstStyle/>
          <a:p>
            <a:pPr marL="0" indent="0" algn="ctr">
              <a:buNone/>
            </a:pPr>
            <a:r>
              <a:rPr lang="en-US" sz="1050" b="1" dirty="0">
                <a:solidFill>
                  <a:srgbClr val="20302A"/>
                </a:solidFill>
                <a:latin typeface="Calibri" pitchFamily="34" charset="0"/>
                <a:ea typeface="Calibri" pitchFamily="34" charset="-122"/>
                <a:cs typeface="Calibri" pitchFamily="34" charset="-120"/>
              </a:rPr>
              <a:t>68 ≤ THI &lt; 79</a:t>
            </a:r>
            <a:endParaRPr lang="en-US" sz="1050" dirty="0"/>
          </a:p>
        </p:txBody>
      </p:sp>
      <p:sp>
        <p:nvSpPr>
          <p:cNvPr id="16" name="Shape 14"/>
          <p:cNvSpPr/>
          <p:nvPr/>
        </p:nvSpPr>
        <p:spPr>
          <a:xfrm>
            <a:off x="3291840" y="4279392"/>
            <a:ext cx="2377440" cy="502920"/>
          </a:xfrm>
          <a:prstGeom prst="roundRect">
            <a:avLst>
              <a:gd name="adj" fmla="val 12727"/>
            </a:avLst>
          </a:prstGeom>
          <a:solidFill>
            <a:srgbClr val="2E86AB"/>
          </a:solidFill>
          <a:ln w="6350">
            <a:solidFill>
              <a:srgbClr val="2E86AB"/>
            </a:solidFill>
            <a:prstDash val="solid"/>
          </a:ln>
          <a:effectLst>
            <a:outerShdw blurRad="50800" dist="25400" dir="5400000" algn="bl" rotWithShape="0">
              <a:srgbClr val="000000">
                <a:alpha val="18000"/>
              </a:srgbClr>
            </a:outerShdw>
          </a:effectLst>
        </p:spPr>
      </p:sp>
      <p:sp>
        <p:nvSpPr>
          <p:cNvPr id="17" name="Text 15"/>
          <p:cNvSpPr txBox="1"/>
          <p:nvPr/>
        </p:nvSpPr>
        <p:spPr>
          <a:xfrm>
            <a:off x="3337560" y="4279392"/>
            <a:ext cx="228600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CAUTION</a:t>
            </a:r>
            <a:endParaRPr lang="en-US" sz="1050" dirty="0"/>
          </a:p>
        </p:txBody>
      </p:sp>
      <p:sp>
        <p:nvSpPr>
          <p:cNvPr id="18" name="Shape 16"/>
          <p:cNvSpPr/>
          <p:nvPr/>
        </p:nvSpPr>
        <p:spPr>
          <a:xfrm>
            <a:off x="822960" y="4901184"/>
            <a:ext cx="2331720" cy="502920"/>
          </a:xfrm>
          <a:prstGeom prst="roundRect">
            <a:avLst>
              <a:gd name="adj" fmla="val 12727"/>
            </a:avLst>
          </a:prstGeom>
          <a:solidFill>
            <a:srgbClr val="F5F0E6"/>
          </a:solidFill>
          <a:ln w="6350">
            <a:solidFill>
              <a:srgbClr val="F5F0E6"/>
            </a:solidFill>
            <a:prstDash val="solid"/>
          </a:ln>
          <a:effectLst>
            <a:outerShdw blurRad="50800" dist="25400" dir="5400000" algn="bl" rotWithShape="0">
              <a:srgbClr val="000000">
                <a:alpha val="18000"/>
              </a:srgbClr>
            </a:outerShdw>
          </a:effectLst>
        </p:spPr>
      </p:sp>
      <p:sp>
        <p:nvSpPr>
          <p:cNvPr id="19" name="Text 17"/>
          <p:cNvSpPr txBox="1"/>
          <p:nvPr/>
        </p:nvSpPr>
        <p:spPr>
          <a:xfrm>
            <a:off x="868680" y="4901184"/>
            <a:ext cx="2240280" cy="502920"/>
          </a:xfrm>
          <a:prstGeom prst="rect">
            <a:avLst/>
          </a:prstGeom>
          <a:noFill/>
          <a:ln/>
        </p:spPr>
        <p:txBody>
          <a:bodyPr wrap="square" lIns="0" tIns="0" rIns="0" bIns="0" rtlCol="0" anchor="ctr"/>
          <a:lstStyle/>
          <a:p>
            <a:pPr marL="0" indent="0" algn="ctr">
              <a:buNone/>
            </a:pPr>
            <a:r>
              <a:rPr lang="en-US" sz="1050" b="1" dirty="0">
                <a:solidFill>
                  <a:srgbClr val="20302A"/>
                </a:solidFill>
                <a:latin typeface="Calibri" pitchFamily="34" charset="0"/>
                <a:ea typeface="Calibri" pitchFamily="34" charset="-122"/>
                <a:cs typeface="Calibri" pitchFamily="34" charset="-120"/>
              </a:rPr>
              <a:t>THI ≥ 79</a:t>
            </a:r>
            <a:endParaRPr lang="en-US" sz="1050" dirty="0"/>
          </a:p>
        </p:txBody>
      </p:sp>
      <p:sp>
        <p:nvSpPr>
          <p:cNvPr id="20" name="Shape 18"/>
          <p:cNvSpPr/>
          <p:nvPr/>
        </p:nvSpPr>
        <p:spPr>
          <a:xfrm>
            <a:off x="3291840" y="4901184"/>
            <a:ext cx="2377440" cy="502920"/>
          </a:xfrm>
          <a:prstGeom prst="roundRect">
            <a:avLst>
              <a:gd name="adj" fmla="val 12727"/>
            </a:avLst>
          </a:prstGeom>
          <a:solidFill>
            <a:srgbClr val="C0392B"/>
          </a:solidFill>
          <a:ln w="6350">
            <a:solidFill>
              <a:srgbClr val="C0392B"/>
            </a:solidFill>
            <a:prstDash val="solid"/>
          </a:ln>
          <a:effectLst>
            <a:outerShdw blurRad="50800" dist="25400" dir="5400000" algn="bl" rotWithShape="0">
              <a:srgbClr val="000000">
                <a:alpha val="18000"/>
              </a:srgbClr>
            </a:outerShdw>
          </a:effectLst>
        </p:spPr>
      </p:sp>
      <p:sp>
        <p:nvSpPr>
          <p:cNvPr id="21" name="Text 19"/>
          <p:cNvSpPr txBox="1"/>
          <p:nvPr/>
        </p:nvSpPr>
        <p:spPr>
          <a:xfrm>
            <a:off x="3337560" y="4901184"/>
            <a:ext cx="228600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HIGH RISK</a:t>
            </a:r>
            <a:endParaRPr lang="en-US" sz="1050" dirty="0"/>
          </a:p>
        </p:txBody>
      </p:sp>
      <p:sp>
        <p:nvSpPr>
          <p:cNvPr id="22" name="Text 20"/>
          <p:cNvSpPr txBox="1"/>
          <p:nvPr/>
        </p:nvSpPr>
        <p:spPr>
          <a:xfrm>
            <a:off x="822960" y="5614416"/>
            <a:ext cx="4846320" cy="548640"/>
          </a:xfrm>
          <a:prstGeom prst="rect">
            <a:avLst/>
          </a:prstGeom>
          <a:noFill/>
          <a:ln/>
        </p:spPr>
        <p:txBody>
          <a:bodyPr wrap="square" lIns="0" tIns="0" rIns="0" bIns="0" rtlCol="0" anchor="ctr"/>
          <a:lstStyle/>
          <a:p>
            <a:pPr marL="0" indent="0">
              <a:buNone/>
            </a:pPr>
            <a:r>
              <a:rPr lang="en-US" sz="1050" i="1" dirty="0">
                <a:solidFill>
                  <a:srgbClr val="5C6B5E"/>
                </a:solidFill>
                <a:latin typeface="Calibri" pitchFamily="34" charset="0"/>
                <a:ea typeface="Calibri" pitchFamily="34" charset="-122"/>
                <a:cs typeface="Calibri" pitchFamily="34" charset="-120"/>
              </a:rPr>
              <a:t>Note: classification is rule-based on THI thresholds; no trained ML model is used in the current prototype.</a:t>
            </a:r>
            <a:endParaRPr lang="en-US" sz="1050" dirty="0"/>
          </a:p>
        </p:txBody>
      </p:sp>
      <p:sp>
        <p:nvSpPr>
          <p:cNvPr id="23" name="Shape 21"/>
          <p:cNvSpPr/>
          <p:nvPr/>
        </p:nvSpPr>
        <p:spPr>
          <a:xfrm>
            <a:off x="6263640" y="1463040"/>
            <a:ext cx="5394960" cy="4709160"/>
          </a:xfrm>
          <a:prstGeom prst="roundRect">
            <a:avLst>
              <a:gd name="adj" fmla="val 1553"/>
            </a:avLst>
          </a:prstGeom>
          <a:solidFill>
            <a:srgbClr val="FFFFFF"/>
          </a:solidFill>
          <a:ln w="12700">
            <a:solidFill>
              <a:srgbClr val="D8D0BC"/>
            </a:solidFill>
            <a:prstDash val="solid"/>
          </a:ln>
        </p:spPr>
      </p:sp>
      <p:sp>
        <p:nvSpPr>
          <p:cNvPr id="24" name="Text 22"/>
          <p:cNvSpPr txBox="1"/>
          <p:nvPr/>
        </p:nvSpPr>
        <p:spPr>
          <a:xfrm>
            <a:off x="6537960" y="1645920"/>
            <a:ext cx="4846320" cy="320040"/>
          </a:xfrm>
          <a:prstGeom prst="rect">
            <a:avLst/>
          </a:prstGeom>
          <a:noFill/>
          <a:ln/>
        </p:spPr>
        <p:txBody>
          <a:bodyPr wrap="square" lIns="0" tIns="0" rIns="0" bIns="0"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Low-Cost Wearable Hardware</a:t>
            </a:r>
            <a:endParaRPr lang="en-US" sz="1500" dirty="0"/>
          </a:p>
        </p:txBody>
      </p:sp>
      <p:sp>
        <p:nvSpPr>
          <p:cNvPr id="25" name="Text 23"/>
          <p:cNvSpPr txBox="1"/>
          <p:nvPr/>
        </p:nvSpPr>
        <p:spPr>
          <a:xfrm>
            <a:off x="6537960" y="2057400"/>
            <a:ext cx="4846320" cy="32918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ESP32 DevKit V1 — main controller</a:t>
            </a:r>
            <a:endParaRPr lang="en-US" sz="1250" dirty="0"/>
          </a:p>
          <a:p>
            <a:pPr marL="342900" indent="-3429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DHT22 — temperature &amp; humidity sensor</a:t>
            </a:r>
            <a:endParaRPr lang="en-US" sz="1250" dirty="0"/>
          </a:p>
          <a:p>
            <a:pPr marL="342900" indent="-3429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RGB LED — visual status indicator</a:t>
            </a:r>
            <a:endParaRPr lang="en-US" sz="1250" dirty="0"/>
          </a:p>
          <a:p>
            <a:pPr marL="342900" indent="-3429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220Ω resistors — LED current limiting</a:t>
            </a:r>
            <a:endParaRPr lang="en-US" sz="1250" dirty="0"/>
          </a:p>
          <a:p>
            <a:pPr marL="342900" indent="-3429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Buzzer — local audible alert</a:t>
            </a:r>
            <a:endParaRPr lang="en-US" sz="1250" dirty="0"/>
          </a:p>
          <a:p>
            <a:pPr marL="342900" indent="-3429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SIM800C GSM module — optional SMS communication</a:t>
            </a:r>
            <a:endParaRPr lang="en-US" sz="1250" dirty="0"/>
          </a:p>
          <a:p>
            <a:pPr marL="342900" indent="-3429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Battery / power source</a:t>
            </a:r>
            <a:endParaRPr lang="en-US" sz="1250" dirty="0"/>
          </a:p>
          <a:p>
            <a:pPr marL="342900" indent="-3429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Collar enclosure for on-animal mounting</a:t>
            </a:r>
            <a:endParaRPr lang="en-US" sz="1250" dirty="0"/>
          </a:p>
        </p:txBody>
      </p:sp>
      <p:sp>
        <p:nvSpPr>
          <p:cNvPr id="26" name="Text 24"/>
          <p:cNvSpPr txBox="1"/>
          <p:nvPr/>
        </p:nvSpPr>
        <p:spPr>
          <a:xfrm>
            <a:off x="6537960" y="5806440"/>
            <a:ext cx="4846320" cy="320040"/>
          </a:xfrm>
          <a:prstGeom prst="rect">
            <a:avLst/>
          </a:prstGeom>
          <a:noFill/>
          <a:ln/>
        </p:spPr>
        <p:txBody>
          <a:bodyPr wrap="square" lIns="0" tIns="0" rIns="0" bIns="0" rtlCol="0" anchor="ctr"/>
          <a:lstStyle/>
          <a:p>
            <a:pPr marL="0" indent="0">
              <a:buNone/>
            </a:pPr>
            <a:r>
              <a:rPr lang="en-US" sz="1050" b="1" i="1" dirty="0">
                <a:solidFill>
                  <a:srgbClr val="2D6A4F"/>
                </a:solidFill>
                <a:latin typeface="Calibri" pitchFamily="34" charset="0"/>
                <a:ea typeface="Calibri" pitchFamily="34" charset="-122"/>
                <a:cs typeface="Calibri" pitchFamily="34" charset="-120"/>
              </a:rPr>
              <a:t>Flow: Sensor → Controller → Local Alert → Optional Remote Communication</a:t>
            </a:r>
            <a:endParaRPr lang="en-US" sz="1050" dirty="0"/>
          </a:p>
        </p:txBody>
      </p:sp>
      <p:sp>
        <p:nvSpPr>
          <p:cNvPr id="27" name="Text 25"/>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C6B5E"/>
                </a:solidFill>
                <a:latin typeface="Calibri" pitchFamily="34" charset="0"/>
                <a:ea typeface="Calibri" pitchFamily="34" charset="-122"/>
                <a:cs typeface="Calibri" pitchFamily="34" charset="-120"/>
              </a:rPr>
              <a:t>Team Triple Espresso  •  NMIT Bengaluru  •  NIRMAAN 2026</a:t>
            </a:r>
            <a:endParaRPr lang="en-US" sz="900" dirty="0"/>
          </a:p>
        </p:txBody>
      </p:sp>
      <p:sp>
        <p:nvSpPr>
          <p:cNvPr id="28" name="Text 26"/>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5E"/>
                </a:solidFill>
                <a:latin typeface="Calibri" pitchFamily="34" charset="0"/>
                <a:ea typeface="Calibri" pitchFamily="34" charset="-122"/>
                <a:cs typeface="Calibri" pitchFamily="34" charset="-120"/>
              </a:rPr>
              <a:t>3</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Working Prototype &amp; Real-Time Detection</a:t>
            </a:r>
            <a:endParaRPr lang="en-US" sz="30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marL="0" indent="0">
              <a:buNone/>
            </a:pPr>
            <a:r>
              <a:rPr lang="en-US" sz="1300" i="1" dirty="0">
                <a:solidFill>
                  <a:srgbClr val="5C6B5E"/>
                </a:solidFill>
                <a:latin typeface="Calibri" pitchFamily="34" charset="0"/>
                <a:ea typeface="Calibri" pitchFamily="34" charset="-122"/>
                <a:cs typeface="Calibri" pitchFamily="34" charset="-120"/>
              </a:rPr>
              <a:t>The physical collar prototype and its three live-detection states</a:t>
            </a:r>
            <a:endParaRPr lang="en-US" sz="1300" dirty="0"/>
          </a:p>
        </p:txBody>
      </p:sp>
      <p:sp>
        <p:nvSpPr>
          <p:cNvPr id="4" name="Shape 2"/>
          <p:cNvSpPr/>
          <p:nvPr/>
        </p:nvSpPr>
        <p:spPr>
          <a:xfrm>
            <a:off x="548640" y="1508760"/>
            <a:ext cx="178308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5" name="Text 3"/>
          <p:cNvSpPr txBox="1"/>
          <p:nvPr/>
        </p:nvSpPr>
        <p:spPr>
          <a:xfrm>
            <a:off x="594360" y="1508760"/>
            <a:ext cx="169164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ESP32</a:t>
            </a:r>
            <a:endParaRPr lang="en-US" sz="1050" dirty="0"/>
          </a:p>
        </p:txBody>
      </p:sp>
      <p:sp>
        <p:nvSpPr>
          <p:cNvPr id="6" name="Shape 4"/>
          <p:cNvSpPr/>
          <p:nvPr/>
        </p:nvSpPr>
        <p:spPr>
          <a:xfrm>
            <a:off x="2423160" y="1508760"/>
            <a:ext cx="178308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7" name="Text 5"/>
          <p:cNvSpPr txBox="1"/>
          <p:nvPr/>
        </p:nvSpPr>
        <p:spPr>
          <a:xfrm>
            <a:off x="2468880" y="1508760"/>
            <a:ext cx="169164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DHT22</a:t>
            </a:r>
            <a:endParaRPr lang="en-US" sz="1050" dirty="0"/>
          </a:p>
        </p:txBody>
      </p:sp>
      <p:sp>
        <p:nvSpPr>
          <p:cNvPr id="8" name="Shape 6"/>
          <p:cNvSpPr/>
          <p:nvPr/>
        </p:nvSpPr>
        <p:spPr>
          <a:xfrm>
            <a:off x="4297680" y="1508760"/>
            <a:ext cx="178308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9" name="Text 7"/>
          <p:cNvSpPr txBox="1"/>
          <p:nvPr/>
        </p:nvSpPr>
        <p:spPr>
          <a:xfrm>
            <a:off x="4343400" y="1508760"/>
            <a:ext cx="169164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RGB LED</a:t>
            </a:r>
            <a:endParaRPr lang="en-US" sz="1050" dirty="0"/>
          </a:p>
        </p:txBody>
      </p:sp>
      <p:sp>
        <p:nvSpPr>
          <p:cNvPr id="10" name="Shape 8"/>
          <p:cNvSpPr/>
          <p:nvPr/>
        </p:nvSpPr>
        <p:spPr>
          <a:xfrm>
            <a:off x="6172200" y="1508760"/>
            <a:ext cx="178308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11" name="Text 9"/>
          <p:cNvSpPr txBox="1"/>
          <p:nvPr/>
        </p:nvSpPr>
        <p:spPr>
          <a:xfrm>
            <a:off x="6217920" y="1508760"/>
            <a:ext cx="169164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Buzzer</a:t>
            </a:r>
            <a:endParaRPr lang="en-US" sz="1050" dirty="0"/>
          </a:p>
        </p:txBody>
      </p:sp>
      <p:sp>
        <p:nvSpPr>
          <p:cNvPr id="12" name="Shape 10"/>
          <p:cNvSpPr/>
          <p:nvPr/>
        </p:nvSpPr>
        <p:spPr>
          <a:xfrm>
            <a:off x="8046720" y="1508760"/>
            <a:ext cx="178308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13" name="Text 11"/>
          <p:cNvSpPr txBox="1"/>
          <p:nvPr/>
        </p:nvSpPr>
        <p:spPr>
          <a:xfrm>
            <a:off x="8092440" y="1508760"/>
            <a:ext cx="169164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GSM Module</a:t>
            </a:r>
            <a:endParaRPr lang="en-US" sz="1050" dirty="0"/>
          </a:p>
        </p:txBody>
      </p:sp>
      <p:sp>
        <p:nvSpPr>
          <p:cNvPr id="14" name="Shape 12"/>
          <p:cNvSpPr/>
          <p:nvPr/>
        </p:nvSpPr>
        <p:spPr>
          <a:xfrm>
            <a:off x="9921240" y="1508760"/>
            <a:ext cx="178308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15" name="Text 13"/>
          <p:cNvSpPr txBox="1"/>
          <p:nvPr/>
        </p:nvSpPr>
        <p:spPr>
          <a:xfrm>
            <a:off x="9966960" y="1508760"/>
            <a:ext cx="169164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Power + Collar</a:t>
            </a:r>
            <a:endParaRPr lang="en-US" sz="1050" dirty="0"/>
          </a:p>
        </p:txBody>
      </p:sp>
      <p:sp>
        <p:nvSpPr>
          <p:cNvPr id="16" name="Shape 14"/>
          <p:cNvSpPr/>
          <p:nvPr/>
        </p:nvSpPr>
        <p:spPr>
          <a:xfrm>
            <a:off x="548640" y="2331720"/>
            <a:ext cx="3657600" cy="3200400"/>
          </a:xfrm>
          <a:prstGeom prst="roundRect">
            <a:avLst>
              <a:gd name="adj" fmla="val 2571"/>
            </a:avLst>
          </a:prstGeom>
          <a:solidFill>
            <a:srgbClr val="40916C"/>
          </a:solidFill>
          <a:ln w="12700">
            <a:solidFill>
              <a:srgbClr val="333333"/>
            </a:solidFill>
            <a:prstDash val="solid"/>
          </a:ln>
        </p:spPr>
      </p:sp>
      <p:sp>
        <p:nvSpPr>
          <p:cNvPr id="17" name="Text 15"/>
          <p:cNvSpPr txBox="1"/>
          <p:nvPr/>
        </p:nvSpPr>
        <p:spPr>
          <a:xfrm>
            <a:off x="731520" y="2560320"/>
            <a:ext cx="329184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SAFE</a:t>
            </a:r>
            <a:endParaRPr lang="en-US" sz="2000" dirty="0"/>
          </a:p>
        </p:txBody>
      </p:sp>
      <p:sp>
        <p:nvSpPr>
          <p:cNvPr id="18" name="Shape 16"/>
          <p:cNvSpPr/>
          <p:nvPr/>
        </p:nvSpPr>
        <p:spPr>
          <a:xfrm>
            <a:off x="1965960" y="3200400"/>
            <a:ext cx="822960" cy="822960"/>
          </a:xfrm>
          <a:prstGeom prst="ellipse">
            <a:avLst/>
          </a:prstGeom>
          <a:solidFill>
            <a:srgbClr val="FFFFFF"/>
          </a:solidFill>
          <a:ln w="12700">
            <a:solidFill>
              <a:srgbClr val="333333"/>
            </a:solidFill>
            <a:prstDash val="solid"/>
          </a:ln>
        </p:spPr>
      </p:sp>
      <p:sp>
        <p:nvSpPr>
          <p:cNvPr id="19" name="Text 17"/>
          <p:cNvSpPr txBox="1"/>
          <p:nvPr/>
        </p:nvSpPr>
        <p:spPr>
          <a:xfrm>
            <a:off x="731520" y="4206240"/>
            <a:ext cx="3291840" cy="1188720"/>
          </a:xfrm>
          <a:prstGeom prst="rect">
            <a:avLst/>
          </a:prstGeom>
          <a:noFill/>
          <a:ln/>
        </p:spPr>
        <p:txBody>
          <a:bodyPr wrap="square" lIns="0" tIns="0" rIns="0" bIns="0"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THI &lt; 68 · Green LED · Buzzer OFF · Temperature normal</a:t>
            </a:r>
            <a:endParaRPr lang="en-US" sz="1200" dirty="0"/>
          </a:p>
        </p:txBody>
      </p:sp>
      <p:sp>
        <p:nvSpPr>
          <p:cNvPr id="20" name="Shape 18"/>
          <p:cNvSpPr/>
          <p:nvPr/>
        </p:nvSpPr>
        <p:spPr>
          <a:xfrm>
            <a:off x="4389120" y="2331720"/>
            <a:ext cx="3657600" cy="3200400"/>
          </a:xfrm>
          <a:prstGeom prst="roundRect">
            <a:avLst>
              <a:gd name="adj" fmla="val 2571"/>
            </a:avLst>
          </a:prstGeom>
          <a:solidFill>
            <a:srgbClr val="2E86AB"/>
          </a:solidFill>
          <a:ln w="12700">
            <a:solidFill>
              <a:srgbClr val="333333"/>
            </a:solidFill>
            <a:prstDash val="solid"/>
          </a:ln>
        </p:spPr>
      </p:sp>
      <p:sp>
        <p:nvSpPr>
          <p:cNvPr id="21" name="Text 19"/>
          <p:cNvSpPr txBox="1"/>
          <p:nvPr/>
        </p:nvSpPr>
        <p:spPr>
          <a:xfrm>
            <a:off x="4572000" y="2560320"/>
            <a:ext cx="329184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CAUTION</a:t>
            </a:r>
            <a:endParaRPr lang="en-US" sz="2000" dirty="0"/>
          </a:p>
        </p:txBody>
      </p:sp>
      <p:sp>
        <p:nvSpPr>
          <p:cNvPr id="22" name="Shape 20"/>
          <p:cNvSpPr/>
          <p:nvPr/>
        </p:nvSpPr>
        <p:spPr>
          <a:xfrm>
            <a:off x="5806440" y="3200400"/>
            <a:ext cx="822960" cy="822960"/>
          </a:xfrm>
          <a:prstGeom prst="ellipse">
            <a:avLst/>
          </a:prstGeom>
          <a:solidFill>
            <a:srgbClr val="FFFFFF"/>
          </a:solidFill>
          <a:ln w="12700">
            <a:solidFill>
              <a:srgbClr val="333333"/>
            </a:solidFill>
            <a:prstDash val="solid"/>
          </a:ln>
        </p:spPr>
      </p:sp>
      <p:sp>
        <p:nvSpPr>
          <p:cNvPr id="23" name="Text 21"/>
          <p:cNvSpPr txBox="1"/>
          <p:nvPr/>
        </p:nvSpPr>
        <p:spPr>
          <a:xfrm>
            <a:off x="4572000" y="4206240"/>
            <a:ext cx="3291840" cy="1188720"/>
          </a:xfrm>
          <a:prstGeom prst="rect">
            <a:avLst/>
          </a:prstGeom>
          <a:noFill/>
          <a:ln/>
        </p:spPr>
        <p:txBody>
          <a:bodyPr wrap="square" lIns="0" tIns="0" rIns="0" bIns="0"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THI 68–79 · Blue LED · Early warning stage</a:t>
            </a:r>
            <a:endParaRPr lang="en-US" sz="1200" dirty="0"/>
          </a:p>
        </p:txBody>
      </p:sp>
      <p:sp>
        <p:nvSpPr>
          <p:cNvPr id="24" name="Shape 22"/>
          <p:cNvSpPr/>
          <p:nvPr/>
        </p:nvSpPr>
        <p:spPr>
          <a:xfrm>
            <a:off x="8229600" y="2331720"/>
            <a:ext cx="3657600" cy="3200400"/>
          </a:xfrm>
          <a:prstGeom prst="roundRect">
            <a:avLst>
              <a:gd name="adj" fmla="val 2571"/>
            </a:avLst>
          </a:prstGeom>
          <a:solidFill>
            <a:srgbClr val="C0392B"/>
          </a:solidFill>
          <a:ln w="12700">
            <a:solidFill>
              <a:srgbClr val="333333"/>
            </a:solidFill>
            <a:prstDash val="solid"/>
          </a:ln>
        </p:spPr>
      </p:sp>
      <p:sp>
        <p:nvSpPr>
          <p:cNvPr id="25" name="Text 23"/>
          <p:cNvSpPr txBox="1"/>
          <p:nvPr/>
        </p:nvSpPr>
        <p:spPr>
          <a:xfrm>
            <a:off x="8412480" y="2560320"/>
            <a:ext cx="329184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HIGH RISK</a:t>
            </a:r>
            <a:endParaRPr lang="en-US" sz="2000" dirty="0"/>
          </a:p>
        </p:txBody>
      </p:sp>
      <p:sp>
        <p:nvSpPr>
          <p:cNvPr id="26" name="Shape 24"/>
          <p:cNvSpPr/>
          <p:nvPr/>
        </p:nvSpPr>
        <p:spPr>
          <a:xfrm>
            <a:off x="9646920" y="3200400"/>
            <a:ext cx="822960" cy="822960"/>
          </a:xfrm>
          <a:prstGeom prst="ellipse">
            <a:avLst/>
          </a:prstGeom>
          <a:solidFill>
            <a:srgbClr val="FFFFFF"/>
          </a:solidFill>
          <a:ln w="12700">
            <a:solidFill>
              <a:srgbClr val="333333"/>
            </a:solidFill>
            <a:prstDash val="solid"/>
          </a:ln>
        </p:spPr>
      </p:sp>
      <p:sp>
        <p:nvSpPr>
          <p:cNvPr id="27" name="Text 25"/>
          <p:cNvSpPr txBox="1"/>
          <p:nvPr/>
        </p:nvSpPr>
        <p:spPr>
          <a:xfrm>
            <a:off x="8412480" y="4206240"/>
            <a:ext cx="3291840" cy="1188720"/>
          </a:xfrm>
          <a:prstGeom prst="rect">
            <a:avLst/>
          </a:prstGeom>
          <a:noFill/>
          <a:ln/>
        </p:spPr>
        <p:txBody>
          <a:bodyPr wrap="square" lIns="0" tIns="0" rIns="0" bIns="0"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THI ≥ 79 · Red LED · Buzzer ON · Farmer attention required</a:t>
            </a:r>
            <a:endParaRPr lang="en-US" sz="1200" dirty="0"/>
          </a:p>
        </p:txBody>
      </p:sp>
      <p:sp>
        <p:nvSpPr>
          <p:cNvPr id="28" name="Text 26"/>
          <p:cNvSpPr txBox="1"/>
          <p:nvPr/>
        </p:nvSpPr>
        <p:spPr>
          <a:xfrm>
            <a:off x="548640" y="5715000"/>
            <a:ext cx="11064240" cy="365760"/>
          </a:xfrm>
          <a:prstGeom prst="rect">
            <a:avLst/>
          </a:prstGeom>
          <a:noFill/>
          <a:ln/>
        </p:spPr>
        <p:txBody>
          <a:bodyPr wrap="square" lIns="0" tIns="0" rIns="0" bIns="0" rtlCol="0" anchor="ctr"/>
          <a:lstStyle/>
          <a:p>
            <a:pPr marL="0" indent="0">
              <a:buNone/>
            </a:pPr>
            <a:r>
              <a:rPr lang="en-US" sz="1100" i="1" dirty="0">
                <a:solidFill>
                  <a:srgbClr val="5C6B5E"/>
                </a:solidFill>
                <a:latin typeface="Calibri" pitchFamily="34" charset="0"/>
                <a:ea typeface="Calibri" pitchFamily="34" charset="-122"/>
                <a:cs typeface="Calibri" pitchFamily="34" charset="-120"/>
              </a:rPr>
              <a:t>States were validated through controlled heat simulation and live sensor readings on the physical prototype.</a:t>
            </a:r>
            <a:endParaRPr lang="en-US" sz="1100" dirty="0"/>
          </a:p>
        </p:txBody>
      </p:sp>
      <p:sp>
        <p:nvSpPr>
          <p:cNvPr id="29" name="Text 27"/>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C6B5E"/>
                </a:solidFill>
                <a:latin typeface="Calibri" pitchFamily="34" charset="0"/>
                <a:ea typeface="Calibri" pitchFamily="34" charset="-122"/>
                <a:cs typeface="Calibri" pitchFamily="34" charset="-120"/>
              </a:rPr>
              <a:t>Team Triple Espresso  •  NMIT Bengaluru  •  NIRMAAN 2026</a:t>
            </a:r>
            <a:endParaRPr lang="en-US" sz="900" dirty="0"/>
          </a:p>
        </p:txBody>
      </p:sp>
      <p:sp>
        <p:nvSpPr>
          <p:cNvPr id="30" name="Text 28"/>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5E"/>
                </a:solidFill>
                <a:latin typeface="Calibri" pitchFamily="34" charset="0"/>
                <a:ea typeface="Calibri" pitchFamily="34" charset="-122"/>
                <a:cs typeface="Calibri" pitchFamily="34" charset="-120"/>
              </a:rPr>
              <a:t>4</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From Collar Data to Farmer Command Center</a:t>
            </a:r>
            <a:endParaRPr lang="en-US" sz="30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marL="0" indent="0">
              <a:buNone/>
            </a:pPr>
            <a:r>
              <a:rPr lang="en-US" sz="1300" i="1" dirty="0">
                <a:solidFill>
                  <a:srgbClr val="5C6B5E"/>
                </a:solidFill>
                <a:latin typeface="Calibri" pitchFamily="34" charset="0"/>
                <a:ea typeface="Calibri" pitchFamily="34" charset="-122"/>
                <a:cs typeface="Calibri" pitchFamily="34" charset="-120"/>
              </a:rPr>
              <a:t>Streamlit dashboard for herd monitoring, and a prototype herd-location view</a:t>
            </a:r>
            <a:endParaRPr lang="en-US" sz="1300" dirty="0"/>
          </a:p>
        </p:txBody>
      </p:sp>
      <p:sp>
        <p:nvSpPr>
          <p:cNvPr id="4" name="Shape 2"/>
          <p:cNvSpPr/>
          <p:nvPr/>
        </p:nvSpPr>
        <p:spPr>
          <a:xfrm>
            <a:off x="548640" y="1463040"/>
            <a:ext cx="5212080" cy="4709160"/>
          </a:xfrm>
          <a:prstGeom prst="roundRect">
            <a:avLst>
              <a:gd name="adj" fmla="val 1553"/>
            </a:avLst>
          </a:prstGeom>
          <a:solidFill>
            <a:srgbClr val="FFFFFF"/>
          </a:solidFill>
          <a:ln w="12700">
            <a:solidFill>
              <a:srgbClr val="D8D0BC"/>
            </a:solidFill>
            <a:prstDash val="solid"/>
          </a:ln>
        </p:spPr>
      </p:sp>
      <p:sp>
        <p:nvSpPr>
          <p:cNvPr id="5" name="Text 3"/>
          <p:cNvSpPr txBox="1"/>
          <p:nvPr/>
        </p:nvSpPr>
        <p:spPr>
          <a:xfrm>
            <a:off x="822960" y="1645920"/>
            <a:ext cx="4663440" cy="320040"/>
          </a:xfrm>
          <a:prstGeom prst="rect">
            <a:avLst/>
          </a:prstGeom>
          <a:noFill/>
          <a:ln/>
        </p:spPr>
        <p:txBody>
          <a:bodyPr wrap="square" lIns="0" tIns="0" rIns="0" bIns="0"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Smart Farmer Dashboard</a:t>
            </a:r>
            <a:endParaRPr lang="en-US" sz="1600" dirty="0"/>
          </a:p>
        </p:txBody>
      </p:sp>
      <p:sp>
        <p:nvSpPr>
          <p:cNvPr id="6" name="Text 4"/>
          <p:cNvSpPr txBox="1"/>
          <p:nvPr/>
        </p:nvSpPr>
        <p:spPr>
          <a:xfrm>
            <a:off x="822960" y="2066827"/>
            <a:ext cx="466344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Herd overview with live sensor data per animal</a:t>
            </a:r>
            <a:endParaRPr lang="en-US" sz="1400" dirty="0"/>
          </a:p>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Temperature, humidity and THI readouts</a:t>
            </a:r>
            <a:endParaRPr lang="en-US" sz="1400" dirty="0"/>
          </a:p>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RGB LED status and buzzer status per collar</a:t>
            </a:r>
            <a:endParaRPr lang="en-US" sz="1400" dirty="0"/>
          </a:p>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Communication (GSM) status indicator</a:t>
            </a:r>
            <a:endParaRPr lang="en-US" sz="1400" dirty="0"/>
          </a:p>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Individual animal profiles</a:t>
            </a:r>
            <a:endParaRPr lang="en-US" sz="1400" dirty="0"/>
          </a:p>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Herd-level map, alerts and recommended actions</a:t>
            </a:r>
            <a:endParaRPr lang="en-US" sz="1400" dirty="0"/>
          </a:p>
          <a:p>
            <a:pPr marL="342900" indent="-342900">
              <a:spcAft>
                <a:spcPts val="800"/>
              </a:spcAft>
              <a:buSzPct val="100000"/>
              <a:buChar char="▪"/>
            </a:pPr>
            <a:r>
              <a:rPr lang="en-US" sz="1400" dirty="0">
                <a:solidFill>
                  <a:srgbClr val="20302A"/>
                </a:solidFill>
                <a:latin typeface="Calibri" pitchFamily="34" charset="0"/>
                <a:ea typeface="Calibri" pitchFamily="34" charset="-122"/>
                <a:cs typeface="Calibri" pitchFamily="34" charset="-120"/>
              </a:rPr>
              <a:t>Available in English and Kannada for farmer accessibility</a:t>
            </a:r>
            <a:endParaRPr lang="en-US" sz="1400" dirty="0"/>
          </a:p>
        </p:txBody>
      </p:sp>
      <p:sp>
        <p:nvSpPr>
          <p:cNvPr id="7" name="Shape 5"/>
          <p:cNvSpPr/>
          <p:nvPr/>
        </p:nvSpPr>
        <p:spPr>
          <a:xfrm>
            <a:off x="6080760" y="1463040"/>
            <a:ext cx="5577840" cy="4709160"/>
          </a:xfrm>
          <a:prstGeom prst="roundRect">
            <a:avLst>
              <a:gd name="adj" fmla="val 1553"/>
            </a:avLst>
          </a:prstGeom>
          <a:solidFill>
            <a:srgbClr val="FFFFFF"/>
          </a:solidFill>
          <a:ln w="12700">
            <a:solidFill>
              <a:srgbClr val="D8D0BC"/>
            </a:solidFill>
            <a:prstDash val="solid"/>
          </a:ln>
        </p:spPr>
      </p:sp>
      <p:sp>
        <p:nvSpPr>
          <p:cNvPr id="8" name="Text 6"/>
          <p:cNvSpPr txBox="1"/>
          <p:nvPr/>
        </p:nvSpPr>
        <p:spPr>
          <a:xfrm>
            <a:off x="6355080" y="1645920"/>
            <a:ext cx="5029200" cy="320040"/>
          </a:xfrm>
          <a:prstGeom prst="rect">
            <a:avLst/>
          </a:prstGeom>
          <a:noFill/>
          <a:ln/>
        </p:spPr>
        <p:txBody>
          <a:bodyPr wrap="square" lIns="0" tIns="0" rIns="0" bIns="0" rtlCol="0" anchor="ctr"/>
          <a:lstStyle/>
          <a:p>
            <a:pPr marL="0" indent="0">
              <a:buNone/>
            </a:pPr>
            <a:r>
              <a:rPr lang="en-US" sz="1450" b="1" dirty="0">
                <a:solidFill>
                  <a:srgbClr val="1B4332"/>
                </a:solidFill>
                <a:latin typeface="Cambria" pitchFamily="34" charset="0"/>
                <a:ea typeface="Cambria" pitchFamily="34" charset="-122"/>
                <a:cs typeface="Cambria" pitchFamily="34" charset="-120"/>
              </a:rPr>
              <a:t>Smart Herd Map — Locate → Respond → Recover</a:t>
            </a:r>
            <a:endParaRPr lang="en-US" sz="1450" dirty="0"/>
          </a:p>
        </p:txBody>
      </p:sp>
      <p:sp>
        <p:nvSpPr>
          <p:cNvPr id="22" name="Text 20"/>
          <p:cNvSpPr txBox="1"/>
          <p:nvPr/>
        </p:nvSpPr>
        <p:spPr>
          <a:xfrm>
            <a:off x="6355080" y="5486400"/>
            <a:ext cx="5029200" cy="502920"/>
          </a:xfrm>
          <a:prstGeom prst="rect">
            <a:avLst/>
          </a:prstGeom>
          <a:noFill/>
          <a:ln/>
        </p:spPr>
        <p:txBody>
          <a:bodyPr wrap="square" lIns="0" tIns="0" rIns="0" bIns="0" rtlCol="0" anchor="ctr"/>
          <a:lstStyle/>
          <a:p>
            <a:pPr marL="0" indent="0">
              <a:buNone/>
            </a:pPr>
            <a:r>
              <a:rPr lang="en-US" sz="1000" b="1" i="1" dirty="0">
                <a:solidFill>
                  <a:srgbClr val="C0392B"/>
                </a:solidFill>
                <a:latin typeface="Calibri" pitchFamily="34" charset="0"/>
                <a:ea typeface="Calibri" pitchFamily="34" charset="-122"/>
                <a:cs typeface="Calibri" pitchFamily="34" charset="-120"/>
              </a:rPr>
              <a:t>Prototype / Simulated GPS — Mandya, Karnataka (no physical GPS module in current hardware)</a:t>
            </a:r>
            <a:endParaRPr lang="en-US" sz="1000" dirty="0"/>
          </a:p>
        </p:txBody>
      </p:sp>
      <p:sp>
        <p:nvSpPr>
          <p:cNvPr id="23" name="Text 21"/>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C6B5E"/>
                </a:solidFill>
                <a:latin typeface="Calibri" pitchFamily="34" charset="0"/>
                <a:ea typeface="Calibri" pitchFamily="34" charset="-122"/>
                <a:cs typeface="Calibri" pitchFamily="34" charset="-120"/>
              </a:rPr>
              <a:t>Team Triple Espresso  •  NMIT Bengaluru  •  NIRMAAN 2026</a:t>
            </a:r>
            <a:endParaRPr lang="en-US" sz="900" dirty="0"/>
          </a:p>
        </p:txBody>
      </p:sp>
      <p:sp>
        <p:nvSpPr>
          <p:cNvPr id="24" name="Text 22"/>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5E"/>
                </a:solidFill>
                <a:latin typeface="Calibri" pitchFamily="34" charset="0"/>
                <a:ea typeface="Calibri" pitchFamily="34" charset="-122"/>
                <a:cs typeface="Calibri" pitchFamily="34" charset="-120"/>
              </a:rPr>
              <a:t>5</a:t>
            </a:r>
            <a:endParaRPr lang="en-US" sz="900" dirty="0"/>
          </a:p>
        </p:txBody>
      </p:sp>
      <p:pic>
        <p:nvPicPr>
          <p:cNvPr id="26" name="Picture 25">
            <a:extLst>
              <a:ext uri="{FF2B5EF4-FFF2-40B4-BE49-F238E27FC236}">
                <a16:creationId xmlns:a16="http://schemas.microsoft.com/office/drawing/2014/main" id="{482C7D5F-DE85-4311-B436-C6604953A142}"/>
              </a:ext>
            </a:extLst>
          </p:cNvPr>
          <p:cNvPicPr>
            <a:picLocks noChangeAspect="1"/>
          </p:cNvPicPr>
          <p:nvPr/>
        </p:nvPicPr>
        <p:blipFill>
          <a:blip r:embed="rId3"/>
          <a:stretch>
            <a:fillRect/>
          </a:stretch>
        </p:blipFill>
        <p:spPr>
          <a:xfrm>
            <a:off x="6651335" y="1981367"/>
            <a:ext cx="3993661" cy="355363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Automatic Response, Farmer Alerting &amp; Testing</a:t>
            </a:r>
            <a:endParaRPr lang="en-US" sz="32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marL="0" indent="0">
              <a:buNone/>
            </a:pPr>
            <a:r>
              <a:rPr lang="en-US" sz="1400" i="1" dirty="0">
                <a:solidFill>
                  <a:srgbClr val="5C6B5E"/>
                </a:solidFill>
                <a:latin typeface="Calibri" pitchFamily="34" charset="0"/>
                <a:ea typeface="Calibri" pitchFamily="34" charset="-122"/>
                <a:cs typeface="Calibri" pitchFamily="34" charset="-120"/>
              </a:rPr>
              <a:t>The system guides the farmer's response, not just raises an alarm</a:t>
            </a:r>
            <a:endParaRPr lang="en-US" sz="1400" dirty="0"/>
          </a:p>
        </p:txBody>
      </p:sp>
      <p:sp>
        <p:nvSpPr>
          <p:cNvPr id="4" name="Shape 2"/>
          <p:cNvSpPr/>
          <p:nvPr/>
        </p:nvSpPr>
        <p:spPr>
          <a:xfrm>
            <a:off x="548640" y="1463040"/>
            <a:ext cx="210312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5" name="Text 3"/>
          <p:cNvSpPr txBox="1"/>
          <p:nvPr/>
        </p:nvSpPr>
        <p:spPr>
          <a:xfrm>
            <a:off x="594360" y="1463040"/>
            <a:ext cx="20116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 DETECT</a:t>
            </a:r>
            <a:endParaRPr lang="en-US" sz="1100" dirty="0"/>
          </a:p>
        </p:txBody>
      </p:sp>
      <p:sp>
        <p:nvSpPr>
          <p:cNvPr id="6" name="Text 4"/>
          <p:cNvSpPr txBox="1"/>
          <p:nvPr/>
        </p:nvSpPr>
        <p:spPr>
          <a:xfrm>
            <a:off x="2651760" y="1463040"/>
            <a:ext cx="274320" cy="365760"/>
          </a:xfrm>
          <a:prstGeom prst="rect">
            <a:avLst/>
          </a:prstGeom>
          <a:noFill/>
          <a:ln/>
        </p:spPr>
        <p:txBody>
          <a:bodyPr wrap="square" lIns="0" tIns="0" rIns="0" bIns="0" rtlCol="0" anchor="ctr"/>
          <a:lstStyle/>
          <a:p>
            <a:pPr marL="0" indent="0" algn="ctr">
              <a:buNone/>
            </a:pPr>
            <a:r>
              <a:rPr lang="en-US" b="1" dirty="0">
                <a:solidFill>
                  <a:srgbClr val="1B4332"/>
                </a:solidFill>
              </a:rPr>
              <a:t>→</a:t>
            </a:r>
            <a:endParaRPr lang="en-US" dirty="0"/>
          </a:p>
        </p:txBody>
      </p:sp>
      <p:sp>
        <p:nvSpPr>
          <p:cNvPr id="7" name="Shape 5"/>
          <p:cNvSpPr/>
          <p:nvPr/>
        </p:nvSpPr>
        <p:spPr>
          <a:xfrm>
            <a:off x="2907792" y="1463040"/>
            <a:ext cx="210312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8" name="Text 6"/>
          <p:cNvSpPr txBox="1"/>
          <p:nvPr/>
        </p:nvSpPr>
        <p:spPr>
          <a:xfrm>
            <a:off x="2953512" y="1463040"/>
            <a:ext cx="20116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 ALERT</a:t>
            </a:r>
            <a:endParaRPr lang="en-US" sz="1100" dirty="0"/>
          </a:p>
        </p:txBody>
      </p:sp>
      <p:sp>
        <p:nvSpPr>
          <p:cNvPr id="9" name="Text 7"/>
          <p:cNvSpPr txBox="1"/>
          <p:nvPr/>
        </p:nvSpPr>
        <p:spPr>
          <a:xfrm>
            <a:off x="5010912" y="1463040"/>
            <a:ext cx="274320" cy="365760"/>
          </a:xfrm>
          <a:prstGeom prst="rect">
            <a:avLst/>
          </a:prstGeom>
          <a:noFill/>
          <a:ln/>
        </p:spPr>
        <p:txBody>
          <a:bodyPr wrap="square" lIns="0" tIns="0" rIns="0" bIns="0" rtlCol="0" anchor="ctr"/>
          <a:lstStyle/>
          <a:p>
            <a:pPr marL="0" indent="0" algn="ctr">
              <a:buNone/>
            </a:pPr>
            <a:r>
              <a:rPr lang="en-US" b="1" dirty="0">
                <a:solidFill>
                  <a:srgbClr val="1B4332"/>
                </a:solidFill>
              </a:rPr>
              <a:t>→</a:t>
            </a:r>
            <a:endParaRPr lang="en-US" dirty="0"/>
          </a:p>
        </p:txBody>
      </p:sp>
      <p:sp>
        <p:nvSpPr>
          <p:cNvPr id="10" name="Shape 8"/>
          <p:cNvSpPr/>
          <p:nvPr/>
        </p:nvSpPr>
        <p:spPr>
          <a:xfrm>
            <a:off x="5266944" y="1463040"/>
            <a:ext cx="210312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11" name="Text 9"/>
          <p:cNvSpPr txBox="1"/>
          <p:nvPr/>
        </p:nvSpPr>
        <p:spPr>
          <a:xfrm>
            <a:off x="5312664" y="1463040"/>
            <a:ext cx="20116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 LOCATE</a:t>
            </a:r>
            <a:endParaRPr lang="en-US" sz="1100" dirty="0"/>
          </a:p>
        </p:txBody>
      </p:sp>
      <p:sp>
        <p:nvSpPr>
          <p:cNvPr id="12" name="Text 10"/>
          <p:cNvSpPr txBox="1"/>
          <p:nvPr/>
        </p:nvSpPr>
        <p:spPr>
          <a:xfrm>
            <a:off x="7370064" y="1463040"/>
            <a:ext cx="274320" cy="365760"/>
          </a:xfrm>
          <a:prstGeom prst="rect">
            <a:avLst/>
          </a:prstGeom>
          <a:noFill/>
          <a:ln/>
        </p:spPr>
        <p:txBody>
          <a:bodyPr wrap="square" lIns="0" tIns="0" rIns="0" bIns="0" rtlCol="0" anchor="ctr"/>
          <a:lstStyle/>
          <a:p>
            <a:pPr marL="0" indent="0" algn="ctr">
              <a:buNone/>
            </a:pPr>
            <a:r>
              <a:rPr lang="en-US" b="1" dirty="0">
                <a:solidFill>
                  <a:srgbClr val="1B4332"/>
                </a:solidFill>
              </a:rPr>
              <a:t>→</a:t>
            </a:r>
            <a:endParaRPr lang="en-US" dirty="0"/>
          </a:p>
        </p:txBody>
      </p:sp>
      <p:sp>
        <p:nvSpPr>
          <p:cNvPr id="13" name="Shape 11"/>
          <p:cNvSpPr/>
          <p:nvPr/>
        </p:nvSpPr>
        <p:spPr>
          <a:xfrm>
            <a:off x="7626096" y="1463040"/>
            <a:ext cx="210312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14" name="Text 12"/>
          <p:cNvSpPr txBox="1"/>
          <p:nvPr/>
        </p:nvSpPr>
        <p:spPr>
          <a:xfrm>
            <a:off x="7671816" y="1463040"/>
            <a:ext cx="20116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 RESPOND</a:t>
            </a:r>
            <a:endParaRPr lang="en-US" sz="1100" dirty="0"/>
          </a:p>
        </p:txBody>
      </p:sp>
      <p:sp>
        <p:nvSpPr>
          <p:cNvPr id="15" name="Text 13"/>
          <p:cNvSpPr txBox="1"/>
          <p:nvPr/>
        </p:nvSpPr>
        <p:spPr>
          <a:xfrm>
            <a:off x="9729216" y="1463040"/>
            <a:ext cx="274320" cy="365760"/>
          </a:xfrm>
          <a:prstGeom prst="rect">
            <a:avLst/>
          </a:prstGeom>
          <a:noFill/>
          <a:ln/>
        </p:spPr>
        <p:txBody>
          <a:bodyPr wrap="square" lIns="0" tIns="0" rIns="0" bIns="0" rtlCol="0" anchor="ctr"/>
          <a:lstStyle/>
          <a:p>
            <a:pPr marL="0" indent="0" algn="ctr">
              <a:buNone/>
            </a:pPr>
            <a:r>
              <a:rPr lang="en-US" b="1" dirty="0">
                <a:solidFill>
                  <a:srgbClr val="1B4332"/>
                </a:solidFill>
              </a:rPr>
              <a:t>→</a:t>
            </a:r>
            <a:endParaRPr lang="en-US" dirty="0"/>
          </a:p>
        </p:txBody>
      </p:sp>
      <p:sp>
        <p:nvSpPr>
          <p:cNvPr id="16" name="Shape 14"/>
          <p:cNvSpPr/>
          <p:nvPr/>
        </p:nvSpPr>
        <p:spPr>
          <a:xfrm>
            <a:off x="9985248" y="1463040"/>
            <a:ext cx="2103120" cy="502920"/>
          </a:xfrm>
          <a:prstGeom prst="roundRect">
            <a:avLst>
              <a:gd name="adj" fmla="val 12727"/>
            </a:avLst>
          </a:prstGeom>
          <a:solidFill>
            <a:srgbClr val="2D6A4F"/>
          </a:solidFill>
          <a:ln w="6350">
            <a:solidFill>
              <a:srgbClr val="2D6A4F"/>
            </a:solidFill>
            <a:prstDash val="solid"/>
          </a:ln>
          <a:effectLst>
            <a:outerShdw blurRad="50800" dist="25400" dir="5400000" algn="bl" rotWithShape="0">
              <a:srgbClr val="000000">
                <a:alpha val="18000"/>
              </a:srgbClr>
            </a:outerShdw>
          </a:effectLst>
        </p:spPr>
      </p:sp>
      <p:sp>
        <p:nvSpPr>
          <p:cNvPr id="17" name="Text 15"/>
          <p:cNvSpPr txBox="1"/>
          <p:nvPr/>
        </p:nvSpPr>
        <p:spPr>
          <a:xfrm>
            <a:off x="10030968" y="1463040"/>
            <a:ext cx="20116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 RECOVER</a:t>
            </a:r>
            <a:endParaRPr lang="en-US" sz="1100" dirty="0"/>
          </a:p>
        </p:txBody>
      </p:sp>
      <p:sp>
        <p:nvSpPr>
          <p:cNvPr id="18" name="Text 16"/>
          <p:cNvSpPr txBox="1"/>
          <p:nvPr/>
        </p:nvSpPr>
        <p:spPr>
          <a:xfrm>
            <a:off x="548640" y="2057400"/>
            <a:ext cx="11064240" cy="365760"/>
          </a:xfrm>
          <a:prstGeom prst="rect">
            <a:avLst/>
          </a:prstGeom>
          <a:noFill/>
          <a:ln/>
        </p:spPr>
        <p:txBody>
          <a:bodyPr wrap="square" lIns="0" tIns="0" rIns="0" bIns="0" rtlCol="0" anchor="ctr"/>
          <a:lstStyle/>
          <a:p>
            <a:pPr marL="0" indent="0">
              <a:buNone/>
            </a:pPr>
            <a:r>
              <a:rPr lang="en-US" sz="1200" i="1" dirty="0">
                <a:solidFill>
                  <a:srgbClr val="5C6B5E"/>
                </a:solidFill>
                <a:latin typeface="Calibri" pitchFamily="34" charset="0"/>
                <a:ea typeface="Calibri" pitchFamily="34" charset="-122"/>
                <a:cs typeface="Calibri" pitchFamily="34" charset="-120"/>
              </a:rPr>
              <a:t>Detect heat stress via THI → Alert via RGB+buzzer+dashboard → Locate animal on herd map → Provide water, shade &amp; cooling → Continue monitoring until safe.</a:t>
            </a:r>
            <a:endParaRPr lang="en-US" sz="1200" dirty="0"/>
          </a:p>
        </p:txBody>
      </p:sp>
      <p:sp>
        <p:nvSpPr>
          <p:cNvPr id="19" name="Shape 17"/>
          <p:cNvSpPr/>
          <p:nvPr/>
        </p:nvSpPr>
        <p:spPr>
          <a:xfrm>
            <a:off x="548640" y="2606040"/>
            <a:ext cx="5394960" cy="3566160"/>
          </a:xfrm>
          <a:prstGeom prst="roundRect">
            <a:avLst>
              <a:gd name="adj" fmla="val 2051"/>
            </a:avLst>
          </a:prstGeom>
          <a:solidFill>
            <a:srgbClr val="20302A"/>
          </a:solidFill>
          <a:ln w="12700">
            <a:solidFill>
              <a:srgbClr val="333333"/>
            </a:solidFill>
            <a:prstDash val="solid"/>
          </a:ln>
        </p:spPr>
      </p:sp>
      <p:sp>
        <p:nvSpPr>
          <p:cNvPr id="20" name="Text 18"/>
          <p:cNvSpPr txBox="1"/>
          <p:nvPr/>
        </p:nvSpPr>
        <p:spPr>
          <a:xfrm>
            <a:off x="777240" y="2743200"/>
            <a:ext cx="4937760" cy="365760"/>
          </a:xfrm>
          <a:prstGeom prst="rect">
            <a:avLst/>
          </a:prstGeom>
          <a:noFill/>
          <a:ln/>
        </p:spPr>
        <p:txBody>
          <a:bodyPr wrap="square" lIns="0" tIns="0" rIns="0" bIns="0"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THERMOCOLLAR+ ALERT — Prototype / Demo</a:t>
            </a:r>
            <a:endParaRPr lang="en-US" sz="1400" dirty="0"/>
          </a:p>
        </p:txBody>
      </p:sp>
      <p:sp>
        <p:nvSpPr>
          <p:cNvPr id="21" name="Text 19"/>
          <p:cNvSpPr txBox="1"/>
          <p:nvPr/>
        </p:nvSpPr>
        <p:spPr>
          <a:xfrm>
            <a:off x="777240" y="3108960"/>
            <a:ext cx="493776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HIGH HEAT-STRESS DETECTED</a:t>
            </a:r>
            <a:endParaRPr lang="en-US" sz="1600" dirty="0"/>
          </a:p>
        </p:txBody>
      </p:sp>
      <p:sp>
        <p:nvSpPr>
          <p:cNvPr id="22" name="Text 20"/>
          <p:cNvSpPr txBox="1"/>
          <p:nvPr/>
        </p:nvSpPr>
        <p:spPr>
          <a:xfrm>
            <a:off x="777240" y="3520440"/>
            <a:ext cx="4937760" cy="1005840"/>
          </a:xfrm>
          <a:prstGeom prst="rect">
            <a:avLst/>
          </a:prstGeom>
          <a:noFill/>
          <a:ln/>
        </p:spPr>
        <p:txBody>
          <a:bodyPr wrap="square" lIns="0" tIns="0" rIns="0" bIns="0" rtlCol="0" anchor="ctr"/>
          <a:lstStyle/>
          <a:p>
            <a:pPr marL="0" indent="0">
              <a:spcAft>
                <a:spcPts val="400"/>
              </a:spcAft>
              <a:buNone/>
            </a:pPr>
            <a:r>
              <a:rPr lang="en-US" sz="1200" b="1" dirty="0">
                <a:solidFill>
                  <a:srgbClr val="D8F3DC"/>
                </a:solidFill>
                <a:latin typeface="Calibri" pitchFamily="34" charset="0"/>
                <a:ea typeface="Calibri" pitchFamily="34" charset="-122"/>
                <a:cs typeface="Calibri" pitchFamily="34" charset="-120"/>
              </a:rPr>
              <a:t>Kaveri (C001)</a:t>
            </a:r>
            <a:endParaRPr lang="en-US" sz="1200" dirty="0"/>
          </a:p>
          <a:p>
            <a:pPr marL="0" indent="0">
              <a:spcAft>
                <a:spcPts val="400"/>
              </a:spcAft>
              <a:buNone/>
            </a:pPr>
            <a:r>
              <a:rPr lang="en-US" sz="1200" dirty="0">
                <a:solidFill>
                  <a:srgbClr val="D8F3DC"/>
                </a:solidFill>
                <a:latin typeface="Calibri" pitchFamily="34" charset="0"/>
                <a:ea typeface="Calibri" pitchFamily="34" charset="-122"/>
                <a:cs typeface="Calibri" pitchFamily="34" charset="-120"/>
              </a:rPr>
              <a:t>Temperature: 38.4°C   Humidity: 76%   THI: 84.0</a:t>
            </a:r>
            <a:endParaRPr lang="en-US" sz="1200" dirty="0"/>
          </a:p>
          <a:p>
            <a:pPr marL="0" indent="0">
              <a:buNone/>
            </a:pPr>
            <a:r>
              <a:rPr lang="en-US" sz="1200" dirty="0">
                <a:solidFill>
                  <a:srgbClr val="D8F3DC"/>
                </a:solidFill>
                <a:latin typeface="Calibri" pitchFamily="34" charset="0"/>
                <a:ea typeface="Calibri" pitchFamily="34" charset="-122"/>
                <a:cs typeface="Calibri" pitchFamily="34" charset="-120"/>
              </a:rPr>
              <a:t>Action: Provide water and move Kaveri to shade.</a:t>
            </a:r>
            <a:endParaRPr lang="en-US" sz="1200" dirty="0"/>
          </a:p>
        </p:txBody>
      </p:sp>
      <p:sp>
        <p:nvSpPr>
          <p:cNvPr id="23" name="Text 21"/>
          <p:cNvSpPr txBox="1"/>
          <p:nvPr/>
        </p:nvSpPr>
        <p:spPr>
          <a:xfrm>
            <a:off x="777240" y="4572000"/>
            <a:ext cx="4937760" cy="1417320"/>
          </a:xfrm>
          <a:prstGeom prst="rect">
            <a:avLst/>
          </a:prstGeom>
          <a:noFill/>
          <a:ln/>
        </p:spPr>
        <p:txBody>
          <a:bodyPr wrap="square" lIns="0" tIns="0" rIns="0" bIns="0" rtlCol="0" anchor="ctr"/>
          <a:lstStyle/>
          <a:p>
            <a:pPr marL="0" indent="0">
              <a:buNone/>
            </a:pPr>
            <a:r>
              <a:rPr lang="en-US" sz="1050" i="1" dirty="0">
                <a:solidFill>
                  <a:srgbClr val="BFD8CE"/>
                </a:solidFill>
                <a:latin typeface="Calibri" pitchFamily="34" charset="0"/>
                <a:ea typeface="Calibri" pitchFamily="34" charset="-122"/>
                <a:cs typeface="Calibri" pitchFamily="34" charset="-120"/>
              </a:rPr>
              <a:t>The GSM (SIM800C) module is designed to push this alert as an SMS from the dashboard to the farmer's phone. In testing, network registration was not consistently reliable, so live carrier delivery is not yet guaranteed; cloud push notification is a planned alternative.</a:t>
            </a:r>
            <a:endParaRPr lang="en-US" sz="1050" dirty="0"/>
          </a:p>
        </p:txBody>
      </p:sp>
      <p:sp>
        <p:nvSpPr>
          <p:cNvPr id="24" name="Shape 22"/>
          <p:cNvSpPr/>
          <p:nvPr/>
        </p:nvSpPr>
        <p:spPr>
          <a:xfrm>
            <a:off x="6263640" y="2606040"/>
            <a:ext cx="5394960" cy="3566160"/>
          </a:xfrm>
          <a:prstGeom prst="roundRect">
            <a:avLst>
              <a:gd name="adj" fmla="val 2051"/>
            </a:avLst>
          </a:prstGeom>
          <a:solidFill>
            <a:srgbClr val="FFFFFF"/>
          </a:solidFill>
          <a:ln w="12700">
            <a:solidFill>
              <a:srgbClr val="D8D0BC"/>
            </a:solidFill>
            <a:prstDash val="solid"/>
          </a:ln>
        </p:spPr>
      </p:sp>
      <p:sp>
        <p:nvSpPr>
          <p:cNvPr id="25" name="Text 23"/>
          <p:cNvSpPr txBox="1"/>
          <p:nvPr/>
        </p:nvSpPr>
        <p:spPr>
          <a:xfrm>
            <a:off x="6492240" y="2743200"/>
            <a:ext cx="4937760" cy="320040"/>
          </a:xfrm>
          <a:prstGeom prst="rect">
            <a:avLst/>
          </a:prstGeom>
          <a:noFill/>
          <a:ln/>
        </p:spPr>
        <p:txBody>
          <a:bodyPr wrap="square" lIns="0" tIns="0" rIns="0" bIns="0"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Prototype Testing &amp; Validation</a:t>
            </a:r>
            <a:endParaRPr lang="en-US" sz="1600" dirty="0"/>
          </a:p>
        </p:txBody>
      </p:sp>
      <p:sp>
        <p:nvSpPr>
          <p:cNvPr id="26" name="Text 24"/>
          <p:cNvSpPr txBox="1"/>
          <p:nvPr/>
        </p:nvSpPr>
        <p:spPr>
          <a:xfrm>
            <a:off x="6492240" y="3200400"/>
            <a:ext cx="822960" cy="548640"/>
          </a:xfrm>
          <a:prstGeom prst="rect">
            <a:avLst/>
          </a:prstGeom>
          <a:noFill/>
          <a:ln/>
        </p:spPr>
        <p:txBody>
          <a:bodyPr wrap="square" lIns="0" tIns="0" rIns="0" bIns="0" rtlCol="0" anchor="ctr"/>
          <a:lstStyle/>
          <a:p>
            <a:pPr marL="0" indent="0">
              <a:buNone/>
            </a:pPr>
            <a:r>
              <a:rPr lang="en-US" sz="1400" b="1" dirty="0">
                <a:solidFill>
                  <a:srgbClr val="20302A"/>
                </a:solidFill>
                <a:latin typeface="Calibri" pitchFamily="34" charset="0"/>
                <a:ea typeface="Calibri" pitchFamily="34" charset="-122"/>
                <a:cs typeface="Calibri" pitchFamily="34" charset="-120"/>
              </a:rPr>
              <a:t>Test 1</a:t>
            </a:r>
            <a:endParaRPr lang="en-US" sz="1400" dirty="0"/>
          </a:p>
        </p:txBody>
      </p:sp>
      <p:sp>
        <p:nvSpPr>
          <p:cNvPr id="27" name="Text 25"/>
          <p:cNvSpPr txBox="1"/>
          <p:nvPr/>
        </p:nvSpPr>
        <p:spPr>
          <a:xfrm>
            <a:off x="7315200" y="3200400"/>
            <a:ext cx="2331720" cy="548640"/>
          </a:xfrm>
          <a:prstGeom prst="rect">
            <a:avLst/>
          </a:prstGeom>
          <a:noFill/>
          <a:ln/>
        </p:spPr>
        <p:txBody>
          <a:bodyPr wrap="square" lIns="0" tIns="0" rIns="0" bIns="0" rtlCol="0" anchor="ctr"/>
          <a:lstStyle/>
          <a:p>
            <a:pPr marL="0" indent="0">
              <a:buNone/>
            </a:pPr>
            <a:r>
              <a:rPr lang="en-US" sz="1200" dirty="0">
                <a:solidFill>
                  <a:srgbClr val="20302A"/>
                </a:solidFill>
                <a:latin typeface="Calibri" pitchFamily="34" charset="0"/>
                <a:ea typeface="Calibri" pitchFamily="34" charset="-122"/>
                <a:cs typeface="Calibri" pitchFamily="34" charset="-120"/>
              </a:rPr>
              <a:t>Normal environmental condition</a:t>
            </a:r>
            <a:endParaRPr lang="en-US" sz="1200" dirty="0"/>
          </a:p>
        </p:txBody>
      </p:sp>
      <p:sp>
        <p:nvSpPr>
          <p:cNvPr id="28" name="Shape 26"/>
          <p:cNvSpPr/>
          <p:nvPr/>
        </p:nvSpPr>
        <p:spPr>
          <a:xfrm>
            <a:off x="9692640" y="3246120"/>
            <a:ext cx="1828800" cy="457200"/>
          </a:xfrm>
          <a:prstGeom prst="roundRect">
            <a:avLst>
              <a:gd name="adj" fmla="val 14000"/>
            </a:avLst>
          </a:prstGeom>
          <a:solidFill>
            <a:srgbClr val="40916C"/>
          </a:solidFill>
          <a:ln w="6350">
            <a:solidFill>
              <a:srgbClr val="40916C"/>
            </a:solidFill>
            <a:prstDash val="solid"/>
          </a:ln>
          <a:effectLst>
            <a:outerShdw blurRad="50800" dist="25400" dir="5400000" algn="bl" rotWithShape="0">
              <a:srgbClr val="000000">
                <a:alpha val="18000"/>
              </a:srgbClr>
            </a:outerShdw>
          </a:effectLst>
        </p:spPr>
      </p:sp>
      <p:sp>
        <p:nvSpPr>
          <p:cNvPr id="29" name="Text 27"/>
          <p:cNvSpPr txBox="1"/>
          <p:nvPr/>
        </p:nvSpPr>
        <p:spPr>
          <a:xfrm>
            <a:off x="9738360" y="3246120"/>
            <a:ext cx="17373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Green — Safe</a:t>
            </a:r>
            <a:endParaRPr lang="en-US" sz="1100" dirty="0"/>
          </a:p>
        </p:txBody>
      </p:sp>
      <p:sp>
        <p:nvSpPr>
          <p:cNvPr id="30" name="Text 28"/>
          <p:cNvSpPr txBox="1"/>
          <p:nvPr/>
        </p:nvSpPr>
        <p:spPr>
          <a:xfrm>
            <a:off x="6492240" y="3913632"/>
            <a:ext cx="822960" cy="548640"/>
          </a:xfrm>
          <a:prstGeom prst="rect">
            <a:avLst/>
          </a:prstGeom>
          <a:noFill/>
          <a:ln/>
        </p:spPr>
        <p:txBody>
          <a:bodyPr wrap="square" lIns="0" tIns="0" rIns="0" bIns="0" rtlCol="0" anchor="ctr"/>
          <a:lstStyle/>
          <a:p>
            <a:pPr marL="0" indent="0">
              <a:buNone/>
            </a:pPr>
            <a:r>
              <a:rPr lang="en-US" sz="1400" b="1" dirty="0">
                <a:solidFill>
                  <a:srgbClr val="20302A"/>
                </a:solidFill>
                <a:latin typeface="Calibri" pitchFamily="34" charset="0"/>
                <a:ea typeface="Calibri" pitchFamily="34" charset="-122"/>
                <a:cs typeface="Calibri" pitchFamily="34" charset="-120"/>
              </a:rPr>
              <a:t>Test 2</a:t>
            </a:r>
            <a:endParaRPr lang="en-US" sz="1400" dirty="0"/>
          </a:p>
        </p:txBody>
      </p:sp>
      <p:sp>
        <p:nvSpPr>
          <p:cNvPr id="31" name="Text 29"/>
          <p:cNvSpPr txBox="1"/>
          <p:nvPr/>
        </p:nvSpPr>
        <p:spPr>
          <a:xfrm>
            <a:off x="7315200" y="3913632"/>
            <a:ext cx="2331720" cy="548640"/>
          </a:xfrm>
          <a:prstGeom prst="rect">
            <a:avLst/>
          </a:prstGeom>
          <a:noFill/>
          <a:ln/>
        </p:spPr>
        <p:txBody>
          <a:bodyPr wrap="square" lIns="0" tIns="0" rIns="0" bIns="0" rtlCol="0" anchor="ctr"/>
          <a:lstStyle/>
          <a:p>
            <a:pPr marL="0" indent="0">
              <a:buNone/>
            </a:pPr>
            <a:r>
              <a:rPr lang="en-US" sz="1200" dirty="0">
                <a:solidFill>
                  <a:srgbClr val="20302A"/>
                </a:solidFill>
                <a:latin typeface="Calibri" pitchFamily="34" charset="0"/>
                <a:ea typeface="Calibri" pitchFamily="34" charset="-122"/>
                <a:cs typeface="Calibri" pitchFamily="34" charset="-120"/>
              </a:rPr>
              <a:t>Temperature &amp; humidity increased</a:t>
            </a:r>
            <a:endParaRPr lang="en-US" sz="1200" dirty="0"/>
          </a:p>
        </p:txBody>
      </p:sp>
      <p:sp>
        <p:nvSpPr>
          <p:cNvPr id="32" name="Shape 30"/>
          <p:cNvSpPr/>
          <p:nvPr/>
        </p:nvSpPr>
        <p:spPr>
          <a:xfrm>
            <a:off x="9692640" y="3959352"/>
            <a:ext cx="1828800" cy="457200"/>
          </a:xfrm>
          <a:prstGeom prst="roundRect">
            <a:avLst>
              <a:gd name="adj" fmla="val 14000"/>
            </a:avLst>
          </a:prstGeom>
          <a:solidFill>
            <a:srgbClr val="2E86AB"/>
          </a:solidFill>
          <a:ln w="6350">
            <a:solidFill>
              <a:srgbClr val="2E86AB"/>
            </a:solidFill>
            <a:prstDash val="solid"/>
          </a:ln>
          <a:effectLst>
            <a:outerShdw blurRad="50800" dist="25400" dir="5400000" algn="bl" rotWithShape="0">
              <a:srgbClr val="000000">
                <a:alpha val="18000"/>
              </a:srgbClr>
            </a:outerShdw>
          </a:effectLst>
        </p:spPr>
      </p:sp>
      <p:sp>
        <p:nvSpPr>
          <p:cNvPr id="33" name="Text 31"/>
          <p:cNvSpPr txBox="1"/>
          <p:nvPr/>
        </p:nvSpPr>
        <p:spPr>
          <a:xfrm>
            <a:off x="9738360" y="3959352"/>
            <a:ext cx="17373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Blue — Caution</a:t>
            </a:r>
            <a:endParaRPr lang="en-US" sz="1100" dirty="0"/>
          </a:p>
        </p:txBody>
      </p:sp>
      <p:sp>
        <p:nvSpPr>
          <p:cNvPr id="34" name="Text 32"/>
          <p:cNvSpPr txBox="1"/>
          <p:nvPr/>
        </p:nvSpPr>
        <p:spPr>
          <a:xfrm>
            <a:off x="6492240" y="4626864"/>
            <a:ext cx="822960" cy="548640"/>
          </a:xfrm>
          <a:prstGeom prst="rect">
            <a:avLst/>
          </a:prstGeom>
          <a:noFill/>
          <a:ln/>
        </p:spPr>
        <p:txBody>
          <a:bodyPr wrap="square" lIns="0" tIns="0" rIns="0" bIns="0" rtlCol="0" anchor="ctr"/>
          <a:lstStyle/>
          <a:p>
            <a:pPr marL="0" indent="0">
              <a:buNone/>
            </a:pPr>
            <a:r>
              <a:rPr lang="en-US" sz="1400" b="1" dirty="0">
                <a:solidFill>
                  <a:srgbClr val="20302A"/>
                </a:solidFill>
                <a:latin typeface="Calibri" pitchFamily="34" charset="0"/>
                <a:ea typeface="Calibri" pitchFamily="34" charset="-122"/>
                <a:cs typeface="Calibri" pitchFamily="34" charset="-120"/>
              </a:rPr>
              <a:t>Test 3</a:t>
            </a:r>
            <a:endParaRPr lang="en-US" sz="1400" dirty="0"/>
          </a:p>
        </p:txBody>
      </p:sp>
      <p:sp>
        <p:nvSpPr>
          <p:cNvPr id="35" name="Text 33"/>
          <p:cNvSpPr txBox="1"/>
          <p:nvPr/>
        </p:nvSpPr>
        <p:spPr>
          <a:xfrm>
            <a:off x="7315200" y="4626864"/>
            <a:ext cx="2331720" cy="548640"/>
          </a:xfrm>
          <a:prstGeom prst="rect">
            <a:avLst/>
          </a:prstGeom>
          <a:noFill/>
          <a:ln/>
        </p:spPr>
        <p:txBody>
          <a:bodyPr wrap="square" lIns="0" tIns="0" rIns="0" bIns="0" rtlCol="0" anchor="ctr"/>
          <a:lstStyle/>
          <a:p>
            <a:pPr marL="0" indent="0">
              <a:buNone/>
            </a:pPr>
            <a:r>
              <a:rPr lang="en-US" sz="1200" dirty="0">
                <a:solidFill>
                  <a:srgbClr val="20302A"/>
                </a:solidFill>
                <a:latin typeface="Calibri" pitchFamily="34" charset="0"/>
                <a:ea typeface="Calibri" pitchFamily="34" charset="-122"/>
                <a:cs typeface="Calibri" pitchFamily="34" charset="-120"/>
              </a:rPr>
              <a:t>High-heat simulation</a:t>
            </a:r>
            <a:endParaRPr lang="en-US" sz="1200" dirty="0"/>
          </a:p>
        </p:txBody>
      </p:sp>
      <p:sp>
        <p:nvSpPr>
          <p:cNvPr id="36" name="Shape 34"/>
          <p:cNvSpPr/>
          <p:nvPr/>
        </p:nvSpPr>
        <p:spPr>
          <a:xfrm>
            <a:off x="9692640" y="4672584"/>
            <a:ext cx="1828800" cy="457200"/>
          </a:xfrm>
          <a:prstGeom prst="roundRect">
            <a:avLst>
              <a:gd name="adj" fmla="val 14000"/>
            </a:avLst>
          </a:prstGeom>
          <a:solidFill>
            <a:srgbClr val="C0392B"/>
          </a:solidFill>
          <a:ln w="6350">
            <a:solidFill>
              <a:srgbClr val="C0392B"/>
            </a:solidFill>
            <a:prstDash val="solid"/>
          </a:ln>
          <a:effectLst>
            <a:outerShdw blurRad="50800" dist="25400" dir="5400000" algn="bl" rotWithShape="0">
              <a:srgbClr val="000000">
                <a:alpha val="18000"/>
              </a:srgbClr>
            </a:outerShdw>
          </a:effectLst>
        </p:spPr>
      </p:sp>
      <p:sp>
        <p:nvSpPr>
          <p:cNvPr id="37" name="Text 35"/>
          <p:cNvSpPr txBox="1"/>
          <p:nvPr/>
        </p:nvSpPr>
        <p:spPr>
          <a:xfrm>
            <a:off x="9738360" y="4672584"/>
            <a:ext cx="17373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Red — Buzzer — High Risk</a:t>
            </a:r>
            <a:endParaRPr lang="en-US" sz="1100" dirty="0"/>
          </a:p>
        </p:txBody>
      </p:sp>
      <p:sp>
        <p:nvSpPr>
          <p:cNvPr id="38" name="Text 36"/>
          <p:cNvSpPr txBox="1"/>
          <p:nvPr/>
        </p:nvSpPr>
        <p:spPr>
          <a:xfrm>
            <a:off x="6492240" y="5623560"/>
            <a:ext cx="4937760" cy="457200"/>
          </a:xfrm>
          <a:prstGeom prst="rect">
            <a:avLst/>
          </a:prstGeom>
          <a:noFill/>
          <a:ln/>
        </p:spPr>
        <p:txBody>
          <a:bodyPr wrap="square" lIns="0" tIns="0" rIns="0" bIns="0" rtlCol="0" anchor="ctr"/>
          <a:lstStyle/>
          <a:p>
            <a:pPr marL="0" indent="0">
              <a:buNone/>
            </a:pPr>
            <a:r>
              <a:rPr lang="en-US" sz="1050" i="1" dirty="0">
                <a:solidFill>
                  <a:srgbClr val="5C6B5E"/>
                </a:solidFill>
                <a:latin typeface="Calibri" pitchFamily="34" charset="0"/>
                <a:ea typeface="Calibri" pitchFamily="34" charset="-122"/>
                <a:cs typeface="Calibri" pitchFamily="34" charset="-120"/>
              </a:rPr>
              <a:t>Validated through controlled heat simulation and live sensor readings on the working prototype.</a:t>
            </a:r>
            <a:endParaRPr lang="en-US" sz="1050" dirty="0"/>
          </a:p>
        </p:txBody>
      </p:sp>
      <p:sp>
        <p:nvSpPr>
          <p:cNvPr id="39" name="Text 37"/>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1000" dirty="0">
                <a:solidFill>
                  <a:srgbClr val="5C6B5E"/>
                </a:solidFill>
                <a:latin typeface="Calibri" pitchFamily="34" charset="0"/>
                <a:ea typeface="Calibri" pitchFamily="34" charset="-122"/>
                <a:cs typeface="Calibri" pitchFamily="34" charset="-120"/>
              </a:rPr>
              <a:t>Team Triple Espresso  •  NMIT Bengaluru  •  NIRMAAN 2026</a:t>
            </a:r>
            <a:endParaRPr lang="en-US" sz="1000" dirty="0"/>
          </a:p>
        </p:txBody>
      </p:sp>
      <p:sp>
        <p:nvSpPr>
          <p:cNvPr id="40" name="Text 38"/>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1000" dirty="0">
                <a:solidFill>
                  <a:srgbClr val="5C6B5E"/>
                </a:solidFill>
                <a:latin typeface="Calibri" pitchFamily="34" charset="0"/>
                <a:ea typeface="Calibri" pitchFamily="34" charset="-122"/>
                <a:cs typeface="Calibri" pitchFamily="34" charset="-120"/>
              </a:rPr>
              <a:t>6</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332"/>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548640"/>
          </a:xfrm>
          <a:prstGeom prst="rect">
            <a:avLst/>
          </a:prstGeom>
          <a:noFill/>
          <a:ln/>
        </p:spPr>
        <p:txBody>
          <a:bodyPr wrap="square" lIns="0" tIns="0" rIns="0" bIns="0"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What Makes ThermoCollar+ Different</a:t>
            </a:r>
            <a:endParaRPr lang="en-US" sz="3200" dirty="0">
              <a:solidFill>
                <a:schemeClr val="bg1"/>
              </a:solidFill>
            </a:endParaRPr>
          </a:p>
        </p:txBody>
      </p:sp>
      <p:sp>
        <p:nvSpPr>
          <p:cNvPr id="3" name="Text 1"/>
          <p:cNvSpPr txBox="1"/>
          <p:nvPr/>
        </p:nvSpPr>
        <p:spPr>
          <a:xfrm>
            <a:off x="548640" y="1143000"/>
            <a:ext cx="5394960" cy="4206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Low-cost, wearable hardware built for real deployment</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Live THI-based heat-risk detection, not just location tracking</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Immediate animal-side RGB + buzzer alert, no network dependency</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Farmer dashboard with herd-level visualization</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Bilingual support — English and Kannada</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Action-oriented recommendations, not just raw data</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Full workflow: Detect → Alert → Locate → Respond → Recover</a:t>
            </a:r>
            <a:endParaRPr lang="en-US" sz="1400" dirty="0">
              <a:solidFill>
                <a:schemeClr val="bg1"/>
              </a:solidFill>
            </a:endParaRPr>
          </a:p>
        </p:txBody>
      </p:sp>
      <p:sp>
        <p:nvSpPr>
          <p:cNvPr id="4" name="Shape 2"/>
          <p:cNvSpPr/>
          <p:nvPr/>
        </p:nvSpPr>
        <p:spPr>
          <a:xfrm>
            <a:off x="6263640" y="1143000"/>
            <a:ext cx="5394960" cy="3200400"/>
          </a:xfrm>
          <a:prstGeom prst="roundRect">
            <a:avLst>
              <a:gd name="adj" fmla="val 2286"/>
            </a:avLst>
          </a:prstGeom>
          <a:solidFill>
            <a:srgbClr val="2D6A4F"/>
          </a:solidFill>
          <a:ln w="12700">
            <a:solidFill>
              <a:srgbClr val="333333"/>
            </a:solidFill>
            <a:prstDash val="solid"/>
          </a:ln>
        </p:spPr>
      </p:sp>
      <p:sp>
        <p:nvSpPr>
          <p:cNvPr id="5" name="Text 3"/>
          <p:cNvSpPr txBox="1"/>
          <p:nvPr/>
        </p:nvSpPr>
        <p:spPr>
          <a:xfrm>
            <a:off x="6492240" y="1280160"/>
            <a:ext cx="4937760" cy="365760"/>
          </a:xfrm>
          <a:prstGeom prst="rect">
            <a:avLst/>
          </a:prstGeom>
          <a:noFill/>
          <a:ln/>
        </p:spPr>
        <p:txBody>
          <a:bodyPr wrap="square" lIns="0" tIns="0" rIns="0" bIns="0" rtlCol="0" anchor="ctr"/>
          <a:lstStyle/>
          <a:p>
            <a:pPr marL="0" indent="0">
              <a:buNone/>
            </a:pPr>
            <a:r>
              <a:rPr lang="en-US" b="1" dirty="0">
                <a:solidFill>
                  <a:schemeClr val="bg1"/>
                </a:solidFill>
                <a:latin typeface="Cambria" pitchFamily="34" charset="0"/>
                <a:ea typeface="Cambria" pitchFamily="34" charset="-122"/>
                <a:cs typeface="Cambria" pitchFamily="34" charset="-120"/>
              </a:rPr>
              <a:t>Future Scope</a:t>
            </a:r>
            <a:endParaRPr lang="en-US" dirty="0">
              <a:solidFill>
                <a:schemeClr val="bg1"/>
              </a:solidFill>
            </a:endParaRPr>
          </a:p>
        </p:txBody>
      </p:sp>
      <p:sp>
        <p:nvSpPr>
          <p:cNvPr id="6" name="Text 4"/>
          <p:cNvSpPr txBox="1"/>
          <p:nvPr/>
        </p:nvSpPr>
        <p:spPr>
          <a:xfrm>
            <a:off x="6492240" y="1691640"/>
            <a:ext cx="493776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Real GPS hardware integration</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Reliable GSM/SMS or cloud push notifications</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Historical THI database &amp; trend analytics</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ML model trained on field-collected data</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Panting / acoustic stress detection</a:t>
            </a:r>
            <a:endParaRPr lang="en-US" sz="1400" dirty="0">
              <a:solidFill>
                <a:schemeClr val="bg1"/>
              </a:solidFill>
            </a:endParaRPr>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Multi-collar farm-scale deployment with vet &amp; dairy cooperative integration</a:t>
            </a:r>
            <a:endParaRPr lang="en-US" sz="1400" dirty="0">
              <a:solidFill>
                <a:schemeClr val="bg1"/>
              </a:solidFill>
            </a:endParaRPr>
          </a:p>
        </p:txBody>
      </p:sp>
      <p:sp>
        <p:nvSpPr>
          <p:cNvPr id="7" name="Text 5"/>
          <p:cNvSpPr txBox="1"/>
          <p:nvPr/>
        </p:nvSpPr>
        <p:spPr>
          <a:xfrm>
            <a:off x="548640" y="4617720"/>
            <a:ext cx="11064240" cy="640080"/>
          </a:xfrm>
          <a:prstGeom prst="rect">
            <a:avLst/>
          </a:prstGeom>
          <a:noFill/>
          <a:ln/>
        </p:spPr>
        <p:txBody>
          <a:bodyPr wrap="square" lIns="0" tIns="0" rIns="0" bIns="0" rtlCol="0" anchor="ctr"/>
          <a:lstStyle/>
          <a:p>
            <a:pPr marL="0" indent="0" algn="ctr">
              <a:buNone/>
            </a:pPr>
            <a:r>
              <a:rPr lang="en-US" i="1" dirty="0">
                <a:solidFill>
                  <a:schemeClr val="bg1"/>
                </a:solidFill>
                <a:latin typeface="Cambria" pitchFamily="34" charset="0"/>
                <a:ea typeface="Cambria" pitchFamily="34" charset="-122"/>
                <a:cs typeface="Cambria" pitchFamily="34" charset="-120"/>
              </a:rPr>
              <a:t>“ThermoCollar+ turns invisible heat stress into an actionable warning — before it becomes an emergency.”</a:t>
            </a:r>
            <a:endParaRPr lang="en-US" dirty="0">
              <a:solidFill>
                <a:schemeClr val="bg1"/>
              </a:solidFill>
            </a:endParaRPr>
          </a:p>
        </p:txBody>
      </p:sp>
      <p:sp>
        <p:nvSpPr>
          <p:cNvPr id="8" name="Text 6"/>
          <p:cNvSpPr txBox="1"/>
          <p:nvPr/>
        </p:nvSpPr>
        <p:spPr>
          <a:xfrm>
            <a:off x="548640" y="5349240"/>
            <a:ext cx="11064240" cy="457200"/>
          </a:xfrm>
          <a:prstGeom prst="rect">
            <a:avLst/>
          </a:prstGeom>
          <a:noFill/>
          <a:ln/>
        </p:spPr>
        <p:txBody>
          <a:bodyPr wrap="square" lIns="0" tIns="0" rIns="0" bIns="0" rtlCol="0" anchor="ctr"/>
          <a:lstStyle/>
          <a:p>
            <a:pPr marL="0" indent="0" algn="ctr">
              <a:buNone/>
            </a:pPr>
            <a:r>
              <a:rPr lang="en-US" sz="2400" b="1" dirty="0">
                <a:solidFill>
                  <a:schemeClr val="accent6">
                    <a:lumMod val="40000"/>
                    <a:lumOff val="60000"/>
                  </a:schemeClr>
                </a:solidFill>
                <a:latin typeface="Cambria" pitchFamily="34" charset="0"/>
                <a:ea typeface="Cambria" pitchFamily="34" charset="-122"/>
                <a:cs typeface="Cambria" pitchFamily="34" charset="-120"/>
              </a:rPr>
              <a:t>Thank You</a:t>
            </a:r>
            <a:endParaRPr lang="en-US" sz="2400" dirty="0">
              <a:solidFill>
                <a:schemeClr val="accent6">
                  <a:lumMod val="40000"/>
                  <a:lumOff val="60000"/>
                </a:schemeClr>
              </a:solidFill>
            </a:endParaRPr>
          </a:p>
        </p:txBody>
      </p:sp>
      <p:sp>
        <p:nvSpPr>
          <p:cNvPr id="9" name="Text 7"/>
          <p:cNvSpPr txBox="1"/>
          <p:nvPr/>
        </p:nvSpPr>
        <p:spPr>
          <a:xfrm>
            <a:off x="548640" y="5852160"/>
            <a:ext cx="11064240" cy="365760"/>
          </a:xfrm>
          <a:prstGeom prst="rect">
            <a:avLst/>
          </a:prstGeom>
          <a:noFill/>
          <a:ln/>
        </p:spPr>
        <p:txBody>
          <a:bodyPr wrap="square" lIns="0" tIns="0" rIns="0" bIns="0" rtlCol="0" anchor="ctr"/>
          <a:lstStyle/>
          <a:p>
            <a:pPr marL="0" indent="0" algn="ctr">
              <a:buNone/>
            </a:pPr>
            <a:r>
              <a:rPr lang="en-US" sz="1200" dirty="0">
                <a:solidFill>
                  <a:schemeClr val="bg1"/>
                </a:solidFill>
                <a:latin typeface="Calibri" pitchFamily="34" charset="0"/>
                <a:ea typeface="Calibri" pitchFamily="34" charset="-122"/>
                <a:cs typeface="Calibri" pitchFamily="34" charset="-120"/>
              </a:rPr>
              <a:t>Team Triple Espresso  •  Avani Kollur, Manya M Poojari, Ananya S K  •  NMIT Bengaluru  •  NIRMAAN 2026</a:t>
            </a:r>
            <a:endParaRPr lang="en-US" sz="1200" dirty="0">
              <a:solidFill>
                <a:schemeClr val="bg1"/>
              </a:solidFill>
            </a:endParaRPr>
          </a:p>
        </p:txBody>
      </p:sp>
      <p:sp>
        <p:nvSpPr>
          <p:cNvPr id="10" name="Text 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Team Triple Espresso  •  NMIT Bengaluru  •  NIRMAAN 2026</a:t>
            </a:r>
            <a:endParaRPr lang="en-US" sz="1000" dirty="0">
              <a:solidFill>
                <a:schemeClr val="bg1"/>
              </a:solidFill>
            </a:endParaRPr>
          </a:p>
        </p:txBody>
      </p:sp>
      <p:sp>
        <p:nvSpPr>
          <p:cNvPr id="11" name="Text 9"/>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7</a:t>
            </a:r>
            <a:endParaRPr lang="en-US" sz="1000" dirty="0">
              <a:solidFill>
                <a:schemeClr val="bg1"/>
              </a:solidFill>
            </a:endParaRPr>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922</Words>
  <Application>Microsoft Office PowerPoint</Application>
  <PresentationFormat>Widescreen</PresentationFormat>
  <Paragraphs>149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4</cp:revision>
  <dcterms:created xsi:type="dcterms:W3CDTF">2026-09-26T02:43:11Z</dcterms:created>
  <dcterms:modified xsi:type="dcterms:W3CDTF">2026-09-26T03:19:36Z</dcterms:modified>
</cp:coreProperties>
</file>